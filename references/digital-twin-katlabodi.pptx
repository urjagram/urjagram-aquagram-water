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
  </p:notesMasterIdLst>
  <p:sldIdLst>
    <p:sldId id="256" r:id="rId2"/>
    <p:sldId id="257" r:id="rId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7" d="100"/>
          <a:sy n="97" d="100"/>
        </p:scale>
        <p:origin x="96" y="1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20536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Digital Twin of Katlabodi — one-slide frame. Objective targets (Net Zero year, household income uplift and its horizon) are left blank for completion. Outcomes to be listed and each activity mapped to its outcome. Four subsystems modelled: agriculture and forest, dairy, water, energy.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IN">
    <p:bg>
      <p:bgPr>
        <a:solidFill>
          <a:srgbClr val="16331D"/>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329184"/>
            <a:ext cx="8229600" cy="566928"/>
          </a:xfrm>
          <a:prstGeom prst="rect">
            <a:avLst/>
          </a:prstGeom>
          <a:noFill/>
          <a:ln/>
        </p:spPr>
        <p:txBody>
          <a:bodyPr wrap="square" lIns="0" tIns="0" rIns="0" bIns="0" rtlCol="0" anchor="ctr"/>
          <a:lstStyle/>
          <a:p>
            <a:pPr marL="0" indent="0">
              <a:buNone/>
            </a:pPr>
            <a:r>
              <a:rPr lang="en-US" sz="4000" b="1" dirty="0">
                <a:solidFill>
                  <a:srgbClr val="F5F5F5"/>
                </a:solidFill>
                <a:latin typeface="Cambria" pitchFamily="34" charset="0"/>
                <a:ea typeface="Cambria" pitchFamily="34" charset="-122"/>
                <a:cs typeface="Cambria" pitchFamily="34" charset="-120"/>
              </a:rPr>
              <a:t>Digital Twin of Katlabodi</a:t>
            </a:r>
            <a:endParaRPr lang="en-US" sz="4000" dirty="0"/>
          </a:p>
        </p:txBody>
      </p:sp>
      <p:sp>
        <p:nvSpPr>
          <p:cNvPr id="3" name="Text 1"/>
          <p:cNvSpPr txBox="1"/>
          <p:nvPr/>
        </p:nvSpPr>
        <p:spPr>
          <a:xfrm>
            <a:off x="548640" y="914400"/>
            <a:ext cx="8229600" cy="274320"/>
          </a:xfrm>
          <a:prstGeom prst="rect">
            <a:avLst/>
          </a:prstGeom>
          <a:noFill/>
          <a:ln/>
        </p:spPr>
        <p:txBody>
          <a:bodyPr wrap="square" lIns="0" tIns="0" rIns="0" bIns="0" rtlCol="0" anchor="ctr"/>
          <a:lstStyle/>
          <a:p>
            <a:pPr marL="0" indent="0">
              <a:buNone/>
            </a:pPr>
            <a:r>
              <a:rPr lang="en-US" sz="1300" kern="0" spc="100" dirty="0">
                <a:solidFill>
                  <a:srgbClr val="97BC62"/>
                </a:solidFill>
                <a:latin typeface="Calibri" pitchFamily="34" charset="0"/>
                <a:ea typeface="Calibri" pitchFamily="34" charset="-122"/>
                <a:cs typeface="Calibri" pitchFamily="34" charset="-120"/>
              </a:rPr>
              <a:t>Katlabodi Gram Panchayat  ·  Katol Block  ·  Nagpur, Maharashtra</a:t>
            </a:r>
            <a:endParaRPr lang="en-US" sz="1300" dirty="0"/>
          </a:p>
        </p:txBody>
      </p:sp>
      <p:sp>
        <p:nvSpPr>
          <p:cNvPr id="4" name="Shape 2"/>
          <p:cNvSpPr/>
          <p:nvPr/>
        </p:nvSpPr>
        <p:spPr>
          <a:xfrm>
            <a:off x="548640" y="1371600"/>
            <a:ext cx="4846320" cy="3154680"/>
          </a:xfrm>
          <a:prstGeom prst="roundRect">
            <a:avLst>
              <a:gd name="adj" fmla="val 2319"/>
            </a:avLst>
          </a:prstGeom>
          <a:solidFill>
            <a:srgbClr val="22492B"/>
          </a:solidFill>
          <a:ln w="12700">
            <a:solidFill>
              <a:srgbClr val="22492B"/>
            </a:solidFill>
            <a:prstDash val="solid"/>
          </a:ln>
        </p:spPr>
        <p:txBody>
          <a:bodyPr/>
          <a:lstStyle/>
          <a:p>
            <a:endParaRPr lang="en-IN"/>
          </a:p>
        </p:txBody>
      </p:sp>
      <p:sp>
        <p:nvSpPr>
          <p:cNvPr id="5" name="Text 3"/>
          <p:cNvSpPr txBox="1"/>
          <p:nvPr/>
        </p:nvSpPr>
        <p:spPr>
          <a:xfrm>
            <a:off x="777240" y="1572768"/>
            <a:ext cx="4389120" cy="274320"/>
          </a:xfrm>
          <a:prstGeom prst="rect">
            <a:avLst/>
          </a:prstGeom>
          <a:noFill/>
          <a:ln/>
        </p:spPr>
        <p:txBody>
          <a:bodyPr wrap="square" lIns="0" tIns="0" rIns="0" bIns="0" rtlCol="0" anchor="ctr"/>
          <a:lstStyle/>
          <a:p>
            <a:pPr marL="0" indent="0">
              <a:buNone/>
            </a:pPr>
            <a:r>
              <a:rPr lang="en-US" sz="1400" b="1" kern="0" spc="200" dirty="0">
                <a:solidFill>
                  <a:srgbClr val="97BC62"/>
                </a:solidFill>
                <a:latin typeface="Calibri" pitchFamily="34" charset="0"/>
                <a:ea typeface="Calibri" pitchFamily="34" charset="-122"/>
                <a:cs typeface="Calibri" pitchFamily="34" charset="-120"/>
              </a:rPr>
              <a:t>OBJECTIVES</a:t>
            </a:r>
            <a:endParaRPr lang="en-US" sz="1400" dirty="0"/>
          </a:p>
        </p:txBody>
      </p:sp>
      <p:sp>
        <p:nvSpPr>
          <p:cNvPr id="6" name="Text 4"/>
          <p:cNvSpPr txBox="1"/>
          <p:nvPr/>
        </p:nvSpPr>
        <p:spPr>
          <a:xfrm>
            <a:off x="777240" y="1993392"/>
            <a:ext cx="2377440" cy="384048"/>
          </a:xfrm>
          <a:prstGeom prst="rect">
            <a:avLst/>
          </a:prstGeom>
          <a:noFill/>
          <a:ln/>
        </p:spPr>
        <p:txBody>
          <a:bodyPr wrap="square" lIns="0" tIns="0" rIns="0" bIns="0" rtlCol="0" anchor="ctr"/>
          <a:lstStyle/>
          <a:p>
            <a:pPr marL="0" indent="0">
              <a:buNone/>
            </a:pPr>
            <a:r>
              <a:rPr lang="en-US" sz="1600" dirty="0">
                <a:solidFill>
                  <a:srgbClr val="F5F5F5"/>
                </a:solidFill>
                <a:latin typeface="Calibri" pitchFamily="34" charset="0"/>
                <a:ea typeface="Calibri" pitchFamily="34" charset="-122"/>
                <a:cs typeface="Calibri" pitchFamily="34" charset="-120"/>
              </a:rPr>
              <a:t>Net Zero by</a:t>
            </a:r>
            <a:endParaRPr lang="en-US" sz="1600" dirty="0"/>
          </a:p>
        </p:txBody>
      </p:sp>
      <p:sp>
        <p:nvSpPr>
          <p:cNvPr id="7" name="Shape 5"/>
          <p:cNvSpPr/>
          <p:nvPr/>
        </p:nvSpPr>
        <p:spPr>
          <a:xfrm>
            <a:off x="3246120" y="1993392"/>
            <a:ext cx="1920240" cy="384048"/>
          </a:xfrm>
          <a:prstGeom prst="roundRect">
            <a:avLst>
              <a:gd name="adj" fmla="val 14286"/>
            </a:avLst>
          </a:prstGeom>
          <a:solidFill>
            <a:srgbClr val="2C5F2D"/>
          </a:solidFill>
          <a:ln w="9525">
            <a:solidFill>
              <a:srgbClr val="97BC62"/>
            </a:solidFill>
            <a:prstDash val="dash"/>
          </a:ln>
        </p:spPr>
        <p:txBody>
          <a:bodyPr/>
          <a:lstStyle/>
          <a:p>
            <a:endParaRPr lang="en-IN"/>
          </a:p>
        </p:txBody>
      </p:sp>
      <p:sp>
        <p:nvSpPr>
          <p:cNvPr id="8" name="Text 6"/>
          <p:cNvSpPr txBox="1"/>
          <p:nvPr/>
        </p:nvSpPr>
        <p:spPr>
          <a:xfrm>
            <a:off x="3246120" y="1993392"/>
            <a:ext cx="1920240" cy="384048"/>
          </a:xfrm>
          <a:prstGeom prst="rect">
            <a:avLst/>
          </a:prstGeom>
          <a:noFill/>
          <a:ln/>
        </p:spPr>
        <p:txBody>
          <a:bodyPr wrap="square" lIns="0" tIns="0" rIns="0" bIns="0" rtlCol="0" anchor="ctr"/>
          <a:lstStyle/>
          <a:p>
            <a:pPr marL="0" indent="0" algn="ctr">
              <a:buNone/>
            </a:pPr>
            <a:r>
              <a:rPr lang="en-US" sz="1600" b="1" dirty="0">
                <a:solidFill>
                  <a:srgbClr val="E8C547"/>
                </a:solidFill>
                <a:latin typeface="Calibri" pitchFamily="34" charset="0"/>
                <a:ea typeface="Calibri" pitchFamily="34" charset="-122"/>
                <a:cs typeface="Calibri" pitchFamily="34" charset="-120"/>
              </a:rPr>
              <a:t>_______</a:t>
            </a:r>
            <a:endParaRPr lang="en-US" sz="1600" dirty="0"/>
          </a:p>
        </p:txBody>
      </p:sp>
      <p:sp>
        <p:nvSpPr>
          <p:cNvPr id="9" name="Text 7"/>
          <p:cNvSpPr txBox="1"/>
          <p:nvPr/>
        </p:nvSpPr>
        <p:spPr>
          <a:xfrm>
            <a:off x="777240" y="2505456"/>
            <a:ext cx="2377440" cy="384048"/>
          </a:xfrm>
          <a:prstGeom prst="rect">
            <a:avLst/>
          </a:prstGeom>
          <a:noFill/>
          <a:ln/>
        </p:spPr>
        <p:txBody>
          <a:bodyPr wrap="square" lIns="0" tIns="0" rIns="0" bIns="0" rtlCol="0" anchor="ctr"/>
          <a:lstStyle/>
          <a:p>
            <a:pPr marL="0" indent="0">
              <a:buNone/>
            </a:pPr>
            <a:r>
              <a:rPr lang="en-US" sz="1600" dirty="0">
                <a:solidFill>
                  <a:srgbClr val="F5F5F5"/>
                </a:solidFill>
                <a:latin typeface="Calibri" pitchFamily="34" charset="0"/>
                <a:ea typeface="Calibri" pitchFamily="34" charset="-122"/>
                <a:cs typeface="Calibri" pitchFamily="34" charset="-120"/>
              </a:rPr>
              <a:t>Household income up by</a:t>
            </a:r>
            <a:endParaRPr lang="en-US" sz="1600" dirty="0"/>
          </a:p>
        </p:txBody>
      </p:sp>
      <p:sp>
        <p:nvSpPr>
          <p:cNvPr id="10" name="Shape 8"/>
          <p:cNvSpPr/>
          <p:nvPr/>
        </p:nvSpPr>
        <p:spPr>
          <a:xfrm>
            <a:off x="3246120" y="2505456"/>
            <a:ext cx="868680" cy="384048"/>
          </a:xfrm>
          <a:prstGeom prst="roundRect">
            <a:avLst>
              <a:gd name="adj" fmla="val 14286"/>
            </a:avLst>
          </a:prstGeom>
          <a:solidFill>
            <a:srgbClr val="2C5F2D"/>
          </a:solidFill>
          <a:ln w="9525">
            <a:solidFill>
              <a:srgbClr val="97BC62"/>
            </a:solidFill>
            <a:prstDash val="dash"/>
          </a:ln>
        </p:spPr>
        <p:txBody>
          <a:bodyPr/>
          <a:lstStyle/>
          <a:p>
            <a:endParaRPr lang="en-IN"/>
          </a:p>
        </p:txBody>
      </p:sp>
      <p:sp>
        <p:nvSpPr>
          <p:cNvPr id="11" name="Text 9"/>
          <p:cNvSpPr txBox="1"/>
          <p:nvPr/>
        </p:nvSpPr>
        <p:spPr>
          <a:xfrm>
            <a:off x="3246120" y="2505456"/>
            <a:ext cx="868680" cy="384048"/>
          </a:xfrm>
          <a:prstGeom prst="rect">
            <a:avLst/>
          </a:prstGeom>
          <a:noFill/>
          <a:ln/>
        </p:spPr>
        <p:txBody>
          <a:bodyPr wrap="square" lIns="0" tIns="0" rIns="0" bIns="0" rtlCol="0" anchor="ctr"/>
          <a:lstStyle/>
          <a:p>
            <a:pPr marL="0" indent="0" algn="ctr">
              <a:buNone/>
            </a:pPr>
            <a:r>
              <a:rPr lang="en-US" sz="1400" b="1" dirty="0">
                <a:solidFill>
                  <a:srgbClr val="E8C547"/>
                </a:solidFill>
                <a:latin typeface="Calibri" pitchFamily="34" charset="0"/>
                <a:ea typeface="Calibri" pitchFamily="34" charset="-122"/>
                <a:cs typeface="Calibri" pitchFamily="34" charset="-120"/>
              </a:rPr>
              <a:t>____ %</a:t>
            </a:r>
            <a:endParaRPr lang="en-US" sz="1400" dirty="0"/>
          </a:p>
        </p:txBody>
      </p:sp>
      <p:sp>
        <p:nvSpPr>
          <p:cNvPr id="12" name="Text 10"/>
          <p:cNvSpPr txBox="1"/>
          <p:nvPr/>
        </p:nvSpPr>
        <p:spPr>
          <a:xfrm>
            <a:off x="4160520" y="2505456"/>
            <a:ext cx="274320" cy="384048"/>
          </a:xfrm>
          <a:prstGeom prst="rect">
            <a:avLst/>
          </a:prstGeom>
          <a:noFill/>
          <a:ln/>
        </p:spPr>
        <p:txBody>
          <a:bodyPr wrap="square" lIns="0" tIns="0" rIns="0" bIns="0" rtlCol="0" anchor="ctr"/>
          <a:lstStyle/>
          <a:p>
            <a:pPr marL="0" indent="0" algn="ctr">
              <a:buNone/>
            </a:pPr>
            <a:r>
              <a:rPr lang="en-US" sz="1400" dirty="0">
                <a:solidFill>
                  <a:srgbClr val="C9D8B6"/>
                </a:solidFill>
                <a:latin typeface="Calibri" pitchFamily="34" charset="0"/>
                <a:ea typeface="Calibri" pitchFamily="34" charset="-122"/>
                <a:cs typeface="Calibri" pitchFamily="34" charset="-120"/>
              </a:rPr>
              <a:t>by</a:t>
            </a:r>
            <a:endParaRPr lang="en-US" sz="1400" dirty="0"/>
          </a:p>
        </p:txBody>
      </p:sp>
      <p:sp>
        <p:nvSpPr>
          <p:cNvPr id="13" name="Shape 11"/>
          <p:cNvSpPr/>
          <p:nvPr/>
        </p:nvSpPr>
        <p:spPr>
          <a:xfrm>
            <a:off x="4434840" y="2505456"/>
            <a:ext cx="731520" cy="384048"/>
          </a:xfrm>
          <a:prstGeom prst="roundRect">
            <a:avLst>
              <a:gd name="adj" fmla="val 14286"/>
            </a:avLst>
          </a:prstGeom>
          <a:solidFill>
            <a:srgbClr val="2C5F2D"/>
          </a:solidFill>
          <a:ln w="9525">
            <a:solidFill>
              <a:srgbClr val="97BC62"/>
            </a:solidFill>
            <a:prstDash val="dash"/>
          </a:ln>
        </p:spPr>
        <p:txBody>
          <a:bodyPr/>
          <a:lstStyle/>
          <a:p>
            <a:endParaRPr lang="en-IN"/>
          </a:p>
        </p:txBody>
      </p:sp>
      <p:sp>
        <p:nvSpPr>
          <p:cNvPr id="14" name="Text 12"/>
          <p:cNvSpPr txBox="1"/>
          <p:nvPr/>
        </p:nvSpPr>
        <p:spPr>
          <a:xfrm>
            <a:off x="4434840" y="2505456"/>
            <a:ext cx="731520" cy="384048"/>
          </a:xfrm>
          <a:prstGeom prst="rect">
            <a:avLst/>
          </a:prstGeom>
          <a:noFill/>
          <a:ln/>
        </p:spPr>
        <p:txBody>
          <a:bodyPr wrap="square" lIns="0" tIns="0" rIns="0" bIns="0" rtlCol="0" anchor="ctr"/>
          <a:lstStyle/>
          <a:p>
            <a:pPr marL="0" indent="0" algn="ctr">
              <a:buNone/>
            </a:pPr>
            <a:r>
              <a:rPr lang="en-US" sz="1400" b="1" dirty="0">
                <a:solidFill>
                  <a:srgbClr val="E8C547"/>
                </a:solidFill>
                <a:latin typeface="Calibri" pitchFamily="34" charset="0"/>
                <a:ea typeface="Calibri" pitchFamily="34" charset="-122"/>
                <a:cs typeface="Calibri" pitchFamily="34" charset="-120"/>
              </a:rPr>
              <a:t>_____</a:t>
            </a:r>
            <a:endParaRPr lang="en-US" sz="1400" dirty="0"/>
          </a:p>
        </p:txBody>
      </p:sp>
      <p:sp>
        <p:nvSpPr>
          <p:cNvPr id="15" name="Text 13"/>
          <p:cNvSpPr txBox="1"/>
          <p:nvPr/>
        </p:nvSpPr>
        <p:spPr>
          <a:xfrm>
            <a:off x="777240" y="3273552"/>
            <a:ext cx="4389120" cy="256032"/>
          </a:xfrm>
          <a:prstGeom prst="rect">
            <a:avLst/>
          </a:prstGeom>
          <a:noFill/>
          <a:ln/>
        </p:spPr>
        <p:txBody>
          <a:bodyPr wrap="square" lIns="0" tIns="0" rIns="0" bIns="0" rtlCol="0" anchor="ctr"/>
          <a:lstStyle/>
          <a:p>
            <a:pPr marL="0" indent="0">
              <a:buNone/>
            </a:pPr>
            <a:r>
              <a:rPr lang="en-US" sz="1200" b="1" kern="0" spc="200" dirty="0">
                <a:solidFill>
                  <a:srgbClr val="97BC62"/>
                </a:solidFill>
                <a:latin typeface="Calibri" pitchFamily="34" charset="0"/>
                <a:ea typeface="Calibri" pitchFamily="34" charset="-122"/>
                <a:cs typeface="Calibri" pitchFamily="34" charset="-120"/>
              </a:rPr>
              <a:t>OUTCOMES</a:t>
            </a:r>
            <a:endParaRPr lang="en-US" sz="1200" dirty="0"/>
          </a:p>
        </p:txBody>
      </p:sp>
      <p:sp>
        <p:nvSpPr>
          <p:cNvPr id="16" name="Text 14"/>
          <p:cNvSpPr txBox="1"/>
          <p:nvPr/>
        </p:nvSpPr>
        <p:spPr>
          <a:xfrm>
            <a:off x="868680" y="3602736"/>
            <a:ext cx="4297680" cy="868680"/>
          </a:xfrm>
          <a:prstGeom prst="rect">
            <a:avLst/>
          </a:prstGeom>
          <a:noFill/>
          <a:ln/>
        </p:spPr>
        <p:txBody>
          <a:bodyPr wrap="square" lIns="0" tIns="0" rIns="0" bIns="0" rtlCol="0" anchor="t"/>
          <a:lstStyle/>
          <a:p>
            <a:pPr marL="342900" indent="-342900">
              <a:spcAft>
                <a:spcPts val="1200"/>
              </a:spcAft>
              <a:buSzPct val="100000"/>
              <a:buChar char="•"/>
            </a:pPr>
            <a:r>
              <a:rPr lang="en-US" sz="1400" dirty="0">
                <a:solidFill>
                  <a:srgbClr val="F5F5F5"/>
                </a:solidFill>
                <a:latin typeface="Calibri" pitchFamily="34" charset="0"/>
                <a:ea typeface="Calibri" pitchFamily="34" charset="-122"/>
                <a:cs typeface="Calibri" pitchFamily="34" charset="-120"/>
              </a:rPr>
              <a:t>List the outcomes that follow from each objective</a:t>
            </a:r>
            <a:endParaRPr lang="en-US" sz="1400" dirty="0"/>
          </a:p>
          <a:p>
            <a:pPr marL="342900" indent="-342900">
              <a:spcAft>
                <a:spcPts val="1200"/>
              </a:spcAft>
              <a:buSzPct val="100000"/>
              <a:buChar char="•"/>
            </a:pPr>
            <a:r>
              <a:rPr lang="en-US" sz="1400" dirty="0">
                <a:solidFill>
                  <a:srgbClr val="F5F5F5"/>
                </a:solidFill>
                <a:latin typeface="Calibri" pitchFamily="34" charset="0"/>
                <a:ea typeface="Calibri" pitchFamily="34" charset="-122"/>
                <a:cs typeface="Calibri" pitchFamily="34" charset="-120"/>
              </a:rPr>
              <a:t>Map every activity to the outcome it delivers</a:t>
            </a:r>
            <a:endParaRPr lang="en-US" sz="1400" dirty="0"/>
          </a:p>
        </p:txBody>
      </p:sp>
      <p:sp>
        <p:nvSpPr>
          <p:cNvPr id="17" name="Shape 15"/>
          <p:cNvSpPr/>
          <p:nvPr/>
        </p:nvSpPr>
        <p:spPr>
          <a:xfrm>
            <a:off x="5760720" y="1371600"/>
            <a:ext cx="5879592" cy="3154680"/>
          </a:xfrm>
          <a:prstGeom prst="roundRect">
            <a:avLst>
              <a:gd name="adj" fmla="val 2319"/>
            </a:avLst>
          </a:prstGeom>
          <a:solidFill>
            <a:srgbClr val="22492B"/>
          </a:solidFill>
          <a:ln w="12700">
            <a:solidFill>
              <a:srgbClr val="22492B"/>
            </a:solidFill>
            <a:prstDash val="solid"/>
          </a:ln>
        </p:spPr>
        <p:txBody>
          <a:bodyPr/>
          <a:lstStyle/>
          <a:p>
            <a:endParaRPr lang="en-IN"/>
          </a:p>
        </p:txBody>
      </p:sp>
      <p:sp>
        <p:nvSpPr>
          <p:cNvPr id="18" name="Text 16"/>
          <p:cNvSpPr txBox="1"/>
          <p:nvPr/>
        </p:nvSpPr>
        <p:spPr>
          <a:xfrm>
            <a:off x="5989320" y="1572768"/>
            <a:ext cx="5422392" cy="274320"/>
          </a:xfrm>
          <a:prstGeom prst="rect">
            <a:avLst/>
          </a:prstGeom>
          <a:noFill/>
          <a:ln/>
        </p:spPr>
        <p:txBody>
          <a:bodyPr wrap="square" lIns="0" tIns="0" rIns="0" bIns="0" rtlCol="0" anchor="ctr"/>
          <a:lstStyle/>
          <a:p>
            <a:pPr marL="0" indent="0">
              <a:buNone/>
            </a:pPr>
            <a:r>
              <a:rPr lang="en-US" sz="1400" b="1" kern="0" spc="200" dirty="0">
                <a:solidFill>
                  <a:srgbClr val="97BC62"/>
                </a:solidFill>
                <a:latin typeface="Calibri" pitchFamily="34" charset="0"/>
                <a:ea typeface="Calibri" pitchFamily="34" charset="-122"/>
                <a:cs typeface="Calibri" pitchFamily="34" charset="-120"/>
              </a:rPr>
              <a:t>SUBSYSTEMS</a:t>
            </a:r>
            <a:endParaRPr lang="en-US" sz="1400" dirty="0"/>
          </a:p>
        </p:txBody>
      </p:sp>
      <p:sp>
        <p:nvSpPr>
          <p:cNvPr id="19" name="Shape 17"/>
          <p:cNvSpPr/>
          <p:nvPr/>
        </p:nvSpPr>
        <p:spPr>
          <a:xfrm>
            <a:off x="5989320" y="2011680"/>
            <a:ext cx="2619756" cy="1097280"/>
          </a:xfrm>
          <a:prstGeom prst="roundRect">
            <a:avLst>
              <a:gd name="adj" fmla="val 5000"/>
            </a:avLst>
          </a:prstGeom>
          <a:solidFill>
            <a:srgbClr val="2C5F2D"/>
          </a:solidFill>
          <a:ln w="12700">
            <a:solidFill>
              <a:srgbClr val="2C5F2D"/>
            </a:solidFill>
            <a:prstDash val="solid"/>
          </a:ln>
        </p:spPr>
        <p:txBody>
          <a:bodyPr/>
          <a:lstStyle/>
          <a:p>
            <a:endParaRPr lang="en-IN"/>
          </a:p>
        </p:txBody>
      </p:sp>
      <p:sp>
        <p:nvSpPr>
          <p:cNvPr id="20" name="Shape 18"/>
          <p:cNvSpPr/>
          <p:nvPr/>
        </p:nvSpPr>
        <p:spPr>
          <a:xfrm>
            <a:off x="6190488" y="2231136"/>
            <a:ext cx="182880" cy="182880"/>
          </a:xfrm>
          <a:prstGeom prst="ellipse">
            <a:avLst/>
          </a:prstGeom>
          <a:solidFill>
            <a:srgbClr val="97BC62"/>
          </a:solidFill>
          <a:ln w="12700">
            <a:solidFill>
              <a:srgbClr val="97BC62"/>
            </a:solidFill>
            <a:prstDash val="solid"/>
          </a:ln>
        </p:spPr>
        <p:txBody>
          <a:bodyPr/>
          <a:lstStyle/>
          <a:p>
            <a:endParaRPr lang="en-IN"/>
          </a:p>
        </p:txBody>
      </p:sp>
      <p:sp>
        <p:nvSpPr>
          <p:cNvPr id="21" name="Text 19"/>
          <p:cNvSpPr txBox="1"/>
          <p:nvPr/>
        </p:nvSpPr>
        <p:spPr>
          <a:xfrm>
            <a:off x="6190488" y="2468880"/>
            <a:ext cx="2212848" cy="530352"/>
          </a:xfrm>
          <a:prstGeom prst="rect">
            <a:avLst/>
          </a:prstGeom>
          <a:noFill/>
          <a:ln/>
        </p:spPr>
        <p:txBody>
          <a:bodyPr wrap="square" lIns="0" tIns="0" rIns="0" bIns="0" rtlCol="0" anchor="t"/>
          <a:lstStyle/>
          <a:p>
            <a:pPr marL="0" indent="0">
              <a:lnSpc>
                <a:spcPct val="95000"/>
              </a:lnSpc>
              <a:buNone/>
            </a:pPr>
            <a:r>
              <a:rPr lang="en-US" sz="1700" b="1" dirty="0">
                <a:solidFill>
                  <a:srgbClr val="F5F5F5"/>
                </a:solidFill>
                <a:latin typeface="Cambria" pitchFamily="34" charset="0"/>
                <a:ea typeface="Cambria" pitchFamily="34" charset="-122"/>
                <a:cs typeface="Cambria" pitchFamily="34" charset="-120"/>
              </a:rPr>
              <a:t>Agriculture &amp;</a:t>
            </a:r>
            <a:endParaRPr lang="en-US" sz="1700" dirty="0"/>
          </a:p>
          <a:p>
            <a:pPr marL="0" indent="0">
              <a:lnSpc>
                <a:spcPct val="95000"/>
              </a:lnSpc>
              <a:buNone/>
            </a:pPr>
            <a:r>
              <a:rPr lang="en-US" sz="1700" b="1" dirty="0">
                <a:solidFill>
                  <a:srgbClr val="F5F5F5"/>
                </a:solidFill>
                <a:latin typeface="Cambria" pitchFamily="34" charset="0"/>
                <a:ea typeface="Cambria" pitchFamily="34" charset="-122"/>
                <a:cs typeface="Cambria" pitchFamily="34" charset="-120"/>
              </a:rPr>
              <a:t>Forest System</a:t>
            </a:r>
            <a:endParaRPr lang="en-US" sz="1700" dirty="0"/>
          </a:p>
        </p:txBody>
      </p:sp>
      <p:sp>
        <p:nvSpPr>
          <p:cNvPr id="22" name="Shape 20"/>
          <p:cNvSpPr/>
          <p:nvPr/>
        </p:nvSpPr>
        <p:spPr>
          <a:xfrm>
            <a:off x="8791956" y="2011680"/>
            <a:ext cx="2619756" cy="1097280"/>
          </a:xfrm>
          <a:prstGeom prst="roundRect">
            <a:avLst>
              <a:gd name="adj" fmla="val 5000"/>
            </a:avLst>
          </a:prstGeom>
          <a:solidFill>
            <a:srgbClr val="2C5F2D"/>
          </a:solidFill>
          <a:ln w="12700">
            <a:solidFill>
              <a:srgbClr val="2C5F2D"/>
            </a:solidFill>
            <a:prstDash val="solid"/>
          </a:ln>
        </p:spPr>
        <p:txBody>
          <a:bodyPr/>
          <a:lstStyle/>
          <a:p>
            <a:endParaRPr lang="en-IN"/>
          </a:p>
        </p:txBody>
      </p:sp>
      <p:sp>
        <p:nvSpPr>
          <p:cNvPr id="23" name="Shape 21"/>
          <p:cNvSpPr/>
          <p:nvPr/>
        </p:nvSpPr>
        <p:spPr>
          <a:xfrm>
            <a:off x="8993124" y="2231136"/>
            <a:ext cx="182880" cy="182880"/>
          </a:xfrm>
          <a:prstGeom prst="ellipse">
            <a:avLst/>
          </a:prstGeom>
          <a:solidFill>
            <a:srgbClr val="97BC62"/>
          </a:solidFill>
          <a:ln w="12700">
            <a:solidFill>
              <a:srgbClr val="97BC62"/>
            </a:solidFill>
            <a:prstDash val="solid"/>
          </a:ln>
        </p:spPr>
        <p:txBody>
          <a:bodyPr/>
          <a:lstStyle/>
          <a:p>
            <a:endParaRPr lang="en-IN"/>
          </a:p>
        </p:txBody>
      </p:sp>
      <p:sp>
        <p:nvSpPr>
          <p:cNvPr id="24" name="Text 22"/>
          <p:cNvSpPr txBox="1"/>
          <p:nvPr/>
        </p:nvSpPr>
        <p:spPr>
          <a:xfrm>
            <a:off x="8993124" y="2468880"/>
            <a:ext cx="2212848" cy="530352"/>
          </a:xfrm>
          <a:prstGeom prst="rect">
            <a:avLst/>
          </a:prstGeom>
          <a:noFill/>
          <a:ln/>
        </p:spPr>
        <p:txBody>
          <a:bodyPr wrap="square" lIns="0" tIns="0" rIns="0" bIns="0" rtlCol="0" anchor="t"/>
          <a:lstStyle/>
          <a:p>
            <a:pPr marL="0" indent="0">
              <a:lnSpc>
                <a:spcPct val="95000"/>
              </a:lnSpc>
              <a:buNone/>
            </a:pPr>
            <a:r>
              <a:rPr lang="en-US" sz="1700" b="1" dirty="0">
                <a:solidFill>
                  <a:srgbClr val="F5F5F5"/>
                </a:solidFill>
                <a:latin typeface="Cambria" pitchFamily="34" charset="0"/>
                <a:ea typeface="Cambria" pitchFamily="34" charset="-122"/>
                <a:cs typeface="Cambria" pitchFamily="34" charset="-120"/>
              </a:rPr>
              <a:t>Dairy System</a:t>
            </a:r>
            <a:endParaRPr lang="en-US" sz="1700" dirty="0"/>
          </a:p>
        </p:txBody>
      </p:sp>
      <p:sp>
        <p:nvSpPr>
          <p:cNvPr id="25" name="Shape 23"/>
          <p:cNvSpPr/>
          <p:nvPr/>
        </p:nvSpPr>
        <p:spPr>
          <a:xfrm>
            <a:off x="5989320" y="3200400"/>
            <a:ext cx="2619756" cy="1097280"/>
          </a:xfrm>
          <a:prstGeom prst="roundRect">
            <a:avLst>
              <a:gd name="adj" fmla="val 5000"/>
            </a:avLst>
          </a:prstGeom>
          <a:solidFill>
            <a:srgbClr val="2C5F2D"/>
          </a:solidFill>
          <a:ln w="12700">
            <a:solidFill>
              <a:srgbClr val="2C5F2D"/>
            </a:solidFill>
            <a:prstDash val="solid"/>
          </a:ln>
        </p:spPr>
        <p:txBody>
          <a:bodyPr/>
          <a:lstStyle/>
          <a:p>
            <a:endParaRPr lang="en-IN"/>
          </a:p>
        </p:txBody>
      </p:sp>
      <p:sp>
        <p:nvSpPr>
          <p:cNvPr id="26" name="Shape 24"/>
          <p:cNvSpPr/>
          <p:nvPr/>
        </p:nvSpPr>
        <p:spPr>
          <a:xfrm>
            <a:off x="6190488" y="3419856"/>
            <a:ext cx="182880" cy="182880"/>
          </a:xfrm>
          <a:prstGeom prst="ellipse">
            <a:avLst/>
          </a:prstGeom>
          <a:solidFill>
            <a:srgbClr val="97BC62"/>
          </a:solidFill>
          <a:ln w="12700">
            <a:solidFill>
              <a:srgbClr val="97BC62"/>
            </a:solidFill>
            <a:prstDash val="solid"/>
          </a:ln>
        </p:spPr>
        <p:txBody>
          <a:bodyPr/>
          <a:lstStyle/>
          <a:p>
            <a:endParaRPr lang="en-IN"/>
          </a:p>
        </p:txBody>
      </p:sp>
      <p:sp>
        <p:nvSpPr>
          <p:cNvPr id="27" name="Text 25"/>
          <p:cNvSpPr txBox="1"/>
          <p:nvPr/>
        </p:nvSpPr>
        <p:spPr>
          <a:xfrm>
            <a:off x="6190488" y="3657600"/>
            <a:ext cx="2212848" cy="530352"/>
          </a:xfrm>
          <a:prstGeom prst="rect">
            <a:avLst/>
          </a:prstGeom>
          <a:noFill/>
          <a:ln/>
        </p:spPr>
        <p:txBody>
          <a:bodyPr wrap="square" lIns="0" tIns="0" rIns="0" bIns="0" rtlCol="0" anchor="t"/>
          <a:lstStyle/>
          <a:p>
            <a:pPr marL="0" indent="0">
              <a:lnSpc>
                <a:spcPct val="95000"/>
              </a:lnSpc>
              <a:buNone/>
            </a:pPr>
            <a:r>
              <a:rPr lang="en-US" sz="1700" b="1" dirty="0">
                <a:solidFill>
                  <a:srgbClr val="F5F5F5"/>
                </a:solidFill>
                <a:latin typeface="Cambria" pitchFamily="34" charset="0"/>
                <a:ea typeface="Cambria" pitchFamily="34" charset="-122"/>
                <a:cs typeface="Cambria" pitchFamily="34" charset="-120"/>
              </a:rPr>
              <a:t>Water System</a:t>
            </a:r>
            <a:endParaRPr lang="en-US" sz="1700" dirty="0"/>
          </a:p>
        </p:txBody>
      </p:sp>
      <p:sp>
        <p:nvSpPr>
          <p:cNvPr id="28" name="Shape 26"/>
          <p:cNvSpPr/>
          <p:nvPr/>
        </p:nvSpPr>
        <p:spPr>
          <a:xfrm>
            <a:off x="8791956" y="3200400"/>
            <a:ext cx="2619756" cy="1097280"/>
          </a:xfrm>
          <a:prstGeom prst="roundRect">
            <a:avLst>
              <a:gd name="adj" fmla="val 5000"/>
            </a:avLst>
          </a:prstGeom>
          <a:solidFill>
            <a:srgbClr val="2C5F2D"/>
          </a:solidFill>
          <a:ln w="12700">
            <a:solidFill>
              <a:srgbClr val="2C5F2D"/>
            </a:solidFill>
            <a:prstDash val="solid"/>
          </a:ln>
        </p:spPr>
        <p:txBody>
          <a:bodyPr/>
          <a:lstStyle/>
          <a:p>
            <a:endParaRPr lang="en-IN"/>
          </a:p>
        </p:txBody>
      </p:sp>
      <p:sp>
        <p:nvSpPr>
          <p:cNvPr id="29" name="Shape 27"/>
          <p:cNvSpPr/>
          <p:nvPr/>
        </p:nvSpPr>
        <p:spPr>
          <a:xfrm>
            <a:off x="8993124" y="3419856"/>
            <a:ext cx="182880" cy="182880"/>
          </a:xfrm>
          <a:prstGeom prst="ellipse">
            <a:avLst/>
          </a:prstGeom>
          <a:solidFill>
            <a:srgbClr val="97BC62"/>
          </a:solidFill>
          <a:ln w="12700">
            <a:solidFill>
              <a:srgbClr val="97BC62"/>
            </a:solidFill>
            <a:prstDash val="solid"/>
          </a:ln>
        </p:spPr>
        <p:txBody>
          <a:bodyPr/>
          <a:lstStyle/>
          <a:p>
            <a:endParaRPr lang="en-IN"/>
          </a:p>
        </p:txBody>
      </p:sp>
      <p:sp>
        <p:nvSpPr>
          <p:cNvPr id="30" name="Text 28"/>
          <p:cNvSpPr txBox="1"/>
          <p:nvPr/>
        </p:nvSpPr>
        <p:spPr>
          <a:xfrm>
            <a:off x="8993124" y="3657600"/>
            <a:ext cx="2212848" cy="530352"/>
          </a:xfrm>
          <a:prstGeom prst="rect">
            <a:avLst/>
          </a:prstGeom>
          <a:noFill/>
          <a:ln/>
        </p:spPr>
        <p:txBody>
          <a:bodyPr wrap="square" lIns="0" tIns="0" rIns="0" bIns="0" rtlCol="0" anchor="t"/>
          <a:lstStyle/>
          <a:p>
            <a:pPr marL="0" indent="0">
              <a:lnSpc>
                <a:spcPct val="95000"/>
              </a:lnSpc>
              <a:buNone/>
            </a:pPr>
            <a:r>
              <a:rPr lang="en-US" sz="1700" b="1" dirty="0">
                <a:solidFill>
                  <a:srgbClr val="F5F5F5"/>
                </a:solidFill>
                <a:latin typeface="Cambria" pitchFamily="34" charset="0"/>
                <a:ea typeface="Cambria" pitchFamily="34" charset="-122"/>
                <a:cs typeface="Cambria" pitchFamily="34" charset="-120"/>
              </a:rPr>
              <a:t>Energy System</a:t>
            </a:r>
            <a:endParaRPr lang="en-US" sz="1700" dirty="0"/>
          </a:p>
        </p:txBody>
      </p:sp>
      <p:sp>
        <p:nvSpPr>
          <p:cNvPr id="31" name="Shape 29"/>
          <p:cNvSpPr/>
          <p:nvPr/>
        </p:nvSpPr>
        <p:spPr>
          <a:xfrm>
            <a:off x="548640" y="4800600"/>
            <a:ext cx="3544214" cy="1508760"/>
          </a:xfrm>
          <a:prstGeom prst="roundRect">
            <a:avLst>
              <a:gd name="adj" fmla="val 4242"/>
            </a:avLst>
          </a:prstGeom>
          <a:solidFill>
            <a:srgbClr val="22492B"/>
          </a:solidFill>
          <a:ln w="12700">
            <a:solidFill>
              <a:srgbClr val="22492B"/>
            </a:solidFill>
            <a:prstDash val="solid"/>
          </a:ln>
        </p:spPr>
        <p:txBody>
          <a:bodyPr/>
          <a:lstStyle/>
          <a:p>
            <a:endParaRPr lang="en-IN"/>
          </a:p>
        </p:txBody>
      </p:sp>
      <p:sp>
        <p:nvSpPr>
          <p:cNvPr id="32" name="Shape 30"/>
          <p:cNvSpPr/>
          <p:nvPr/>
        </p:nvSpPr>
        <p:spPr>
          <a:xfrm>
            <a:off x="804672" y="5056632"/>
            <a:ext cx="164592" cy="164592"/>
          </a:xfrm>
          <a:prstGeom prst="ellipse">
            <a:avLst/>
          </a:prstGeom>
          <a:solidFill>
            <a:srgbClr val="E8C547"/>
          </a:solidFill>
          <a:ln w="12700">
            <a:solidFill>
              <a:srgbClr val="E8C547"/>
            </a:solidFill>
            <a:prstDash val="solid"/>
          </a:ln>
        </p:spPr>
        <p:txBody>
          <a:bodyPr/>
          <a:lstStyle/>
          <a:p>
            <a:endParaRPr lang="en-IN"/>
          </a:p>
        </p:txBody>
      </p:sp>
      <p:sp>
        <p:nvSpPr>
          <p:cNvPr id="33" name="Text 31"/>
          <p:cNvSpPr txBox="1"/>
          <p:nvPr/>
        </p:nvSpPr>
        <p:spPr>
          <a:xfrm>
            <a:off x="1097280" y="4992624"/>
            <a:ext cx="2743200" cy="292608"/>
          </a:xfrm>
          <a:prstGeom prst="rect">
            <a:avLst/>
          </a:prstGeom>
          <a:noFill/>
          <a:ln/>
        </p:spPr>
        <p:txBody>
          <a:bodyPr wrap="square" lIns="0" tIns="0" rIns="0" bIns="0" rtlCol="0" anchor="ctr"/>
          <a:lstStyle/>
          <a:p>
            <a:pPr marL="0" indent="0">
              <a:buNone/>
            </a:pPr>
            <a:r>
              <a:rPr lang="en-US" sz="1600" b="1" dirty="0">
                <a:solidFill>
                  <a:srgbClr val="97BC62"/>
                </a:solidFill>
                <a:latin typeface="Cambria" pitchFamily="34" charset="0"/>
                <a:ea typeface="Cambria" pitchFamily="34" charset="-122"/>
                <a:cs typeface="Cambria" pitchFamily="34" charset="-120"/>
              </a:rPr>
              <a:t>Local Intelligence</a:t>
            </a:r>
            <a:endParaRPr lang="en-US" sz="1600" dirty="0"/>
          </a:p>
        </p:txBody>
      </p:sp>
      <p:sp>
        <p:nvSpPr>
          <p:cNvPr id="34" name="Text 32"/>
          <p:cNvSpPr txBox="1"/>
          <p:nvPr/>
        </p:nvSpPr>
        <p:spPr>
          <a:xfrm>
            <a:off x="804672" y="5394960"/>
            <a:ext cx="3035808" cy="777240"/>
          </a:xfrm>
          <a:prstGeom prst="rect">
            <a:avLst/>
          </a:prstGeom>
          <a:noFill/>
          <a:ln/>
        </p:spPr>
        <p:txBody>
          <a:bodyPr wrap="square" lIns="0" tIns="0" rIns="0" bIns="0" rtlCol="0" anchor="t"/>
          <a:lstStyle/>
          <a:p>
            <a:pPr marL="0" indent="0">
              <a:buNone/>
            </a:pPr>
            <a:r>
              <a:rPr lang="en-US" sz="1300" dirty="0">
                <a:solidFill>
                  <a:srgbClr val="F5F5F5"/>
                </a:solidFill>
                <a:latin typeface="Calibri" pitchFamily="34" charset="0"/>
                <a:ea typeface="Calibri" pitchFamily="34" charset="-122"/>
                <a:cs typeface="Calibri" pitchFamily="34" charset="-120"/>
              </a:rPr>
              <a:t>Capture the local intelligence embedded in existing functions and activities</a:t>
            </a:r>
            <a:endParaRPr lang="en-US" sz="1300" dirty="0"/>
          </a:p>
        </p:txBody>
      </p:sp>
      <p:sp>
        <p:nvSpPr>
          <p:cNvPr id="35" name="Shape 33"/>
          <p:cNvSpPr/>
          <p:nvPr/>
        </p:nvSpPr>
        <p:spPr>
          <a:xfrm>
            <a:off x="4321454" y="4800600"/>
            <a:ext cx="3544214" cy="1508760"/>
          </a:xfrm>
          <a:prstGeom prst="roundRect">
            <a:avLst>
              <a:gd name="adj" fmla="val 4242"/>
            </a:avLst>
          </a:prstGeom>
          <a:solidFill>
            <a:srgbClr val="22492B"/>
          </a:solidFill>
          <a:ln w="12700">
            <a:solidFill>
              <a:srgbClr val="22492B"/>
            </a:solidFill>
            <a:prstDash val="solid"/>
          </a:ln>
        </p:spPr>
        <p:txBody>
          <a:bodyPr/>
          <a:lstStyle/>
          <a:p>
            <a:endParaRPr lang="en-IN"/>
          </a:p>
        </p:txBody>
      </p:sp>
      <p:sp>
        <p:nvSpPr>
          <p:cNvPr id="36" name="Shape 34"/>
          <p:cNvSpPr/>
          <p:nvPr/>
        </p:nvSpPr>
        <p:spPr>
          <a:xfrm>
            <a:off x="4577486" y="5056632"/>
            <a:ext cx="164592" cy="164592"/>
          </a:xfrm>
          <a:prstGeom prst="ellipse">
            <a:avLst/>
          </a:prstGeom>
          <a:solidFill>
            <a:srgbClr val="E8C547"/>
          </a:solidFill>
          <a:ln w="12700">
            <a:solidFill>
              <a:srgbClr val="E8C547"/>
            </a:solidFill>
            <a:prstDash val="solid"/>
          </a:ln>
        </p:spPr>
        <p:txBody>
          <a:bodyPr/>
          <a:lstStyle/>
          <a:p>
            <a:endParaRPr lang="en-IN"/>
          </a:p>
        </p:txBody>
      </p:sp>
      <p:sp>
        <p:nvSpPr>
          <p:cNvPr id="37" name="Text 35"/>
          <p:cNvSpPr txBox="1"/>
          <p:nvPr/>
        </p:nvSpPr>
        <p:spPr>
          <a:xfrm>
            <a:off x="4870094" y="4992624"/>
            <a:ext cx="2743200" cy="292608"/>
          </a:xfrm>
          <a:prstGeom prst="rect">
            <a:avLst/>
          </a:prstGeom>
          <a:noFill/>
          <a:ln/>
        </p:spPr>
        <p:txBody>
          <a:bodyPr wrap="square" lIns="0" tIns="0" rIns="0" bIns="0" rtlCol="0" anchor="ctr"/>
          <a:lstStyle/>
          <a:p>
            <a:pPr marL="0" indent="0">
              <a:buNone/>
            </a:pPr>
            <a:r>
              <a:rPr lang="en-US" sz="1600" b="1" dirty="0">
                <a:solidFill>
                  <a:srgbClr val="97BC62"/>
                </a:solidFill>
                <a:latin typeface="Cambria" pitchFamily="34" charset="0"/>
                <a:ea typeface="Cambria" pitchFamily="34" charset="-122"/>
                <a:cs typeface="Cambria" pitchFamily="34" charset="-120"/>
              </a:rPr>
              <a:t>Interdependencies</a:t>
            </a:r>
            <a:endParaRPr lang="en-US" sz="1600" dirty="0"/>
          </a:p>
        </p:txBody>
      </p:sp>
      <p:sp>
        <p:nvSpPr>
          <p:cNvPr id="38" name="Text 36"/>
          <p:cNvSpPr txBox="1"/>
          <p:nvPr/>
        </p:nvSpPr>
        <p:spPr>
          <a:xfrm>
            <a:off x="4577486" y="5394960"/>
            <a:ext cx="3035808" cy="777240"/>
          </a:xfrm>
          <a:prstGeom prst="rect">
            <a:avLst/>
          </a:prstGeom>
          <a:noFill/>
          <a:ln/>
        </p:spPr>
        <p:txBody>
          <a:bodyPr wrap="square" lIns="0" tIns="0" rIns="0" bIns="0" rtlCol="0" anchor="t"/>
          <a:lstStyle/>
          <a:p>
            <a:pPr marL="0" indent="0">
              <a:buNone/>
            </a:pPr>
            <a:r>
              <a:rPr lang="en-US" sz="1300" dirty="0">
                <a:solidFill>
                  <a:srgbClr val="F5F5F5"/>
                </a:solidFill>
                <a:latin typeface="Calibri" pitchFamily="34" charset="0"/>
                <a:ea typeface="Calibri" pitchFamily="34" charset="-122"/>
                <a:cs typeface="Calibri" pitchFamily="34" charset="-120"/>
              </a:rPr>
              <a:t>Identify the interdependencies that link the subsystems to one another</a:t>
            </a:r>
            <a:endParaRPr lang="en-US" sz="1300" dirty="0"/>
          </a:p>
        </p:txBody>
      </p:sp>
      <p:sp>
        <p:nvSpPr>
          <p:cNvPr id="39" name="Shape 37"/>
          <p:cNvSpPr/>
          <p:nvPr/>
        </p:nvSpPr>
        <p:spPr>
          <a:xfrm>
            <a:off x="8095183" y="4800600"/>
            <a:ext cx="3544214" cy="1508760"/>
          </a:xfrm>
          <a:prstGeom prst="roundRect">
            <a:avLst>
              <a:gd name="adj" fmla="val 4242"/>
            </a:avLst>
          </a:prstGeom>
          <a:solidFill>
            <a:srgbClr val="22492B"/>
          </a:solidFill>
          <a:ln w="12700">
            <a:solidFill>
              <a:srgbClr val="22492B"/>
            </a:solidFill>
            <a:prstDash val="solid"/>
          </a:ln>
        </p:spPr>
        <p:txBody>
          <a:bodyPr/>
          <a:lstStyle/>
          <a:p>
            <a:endParaRPr lang="en-IN"/>
          </a:p>
        </p:txBody>
      </p:sp>
      <p:sp>
        <p:nvSpPr>
          <p:cNvPr id="40" name="Shape 38"/>
          <p:cNvSpPr/>
          <p:nvPr/>
        </p:nvSpPr>
        <p:spPr>
          <a:xfrm>
            <a:off x="8351215" y="5056632"/>
            <a:ext cx="164592" cy="164592"/>
          </a:xfrm>
          <a:prstGeom prst="ellipse">
            <a:avLst/>
          </a:prstGeom>
          <a:solidFill>
            <a:srgbClr val="E8C547"/>
          </a:solidFill>
          <a:ln w="12700">
            <a:solidFill>
              <a:srgbClr val="E8C547"/>
            </a:solidFill>
            <a:prstDash val="solid"/>
          </a:ln>
        </p:spPr>
        <p:txBody>
          <a:bodyPr/>
          <a:lstStyle/>
          <a:p>
            <a:endParaRPr lang="en-IN"/>
          </a:p>
        </p:txBody>
      </p:sp>
      <p:sp>
        <p:nvSpPr>
          <p:cNvPr id="41" name="Text 39"/>
          <p:cNvSpPr txBox="1"/>
          <p:nvPr/>
        </p:nvSpPr>
        <p:spPr>
          <a:xfrm>
            <a:off x="8643823" y="4992624"/>
            <a:ext cx="2743200" cy="292608"/>
          </a:xfrm>
          <a:prstGeom prst="rect">
            <a:avLst/>
          </a:prstGeom>
          <a:noFill/>
          <a:ln/>
        </p:spPr>
        <p:txBody>
          <a:bodyPr wrap="square" lIns="0" tIns="0" rIns="0" bIns="0" rtlCol="0" anchor="ctr"/>
          <a:lstStyle/>
          <a:p>
            <a:pPr marL="0" indent="0">
              <a:buNone/>
            </a:pPr>
            <a:r>
              <a:rPr lang="en-US" sz="1600" b="1" dirty="0">
                <a:solidFill>
                  <a:srgbClr val="97BC62"/>
                </a:solidFill>
                <a:latin typeface="Cambria" pitchFamily="34" charset="0"/>
                <a:ea typeface="Cambria" pitchFamily="34" charset="-122"/>
                <a:cs typeface="Cambria" pitchFamily="34" charset="-120"/>
              </a:rPr>
              <a:t>Technology Learning</a:t>
            </a:r>
            <a:endParaRPr lang="en-US" sz="1600" dirty="0"/>
          </a:p>
        </p:txBody>
      </p:sp>
      <p:sp>
        <p:nvSpPr>
          <p:cNvPr id="42" name="Text 40"/>
          <p:cNvSpPr txBox="1"/>
          <p:nvPr/>
        </p:nvSpPr>
        <p:spPr>
          <a:xfrm>
            <a:off x="8351215" y="5394960"/>
            <a:ext cx="3035808" cy="777240"/>
          </a:xfrm>
          <a:prstGeom prst="rect">
            <a:avLst/>
          </a:prstGeom>
          <a:noFill/>
          <a:ln/>
        </p:spPr>
        <p:txBody>
          <a:bodyPr wrap="square" lIns="0" tIns="0" rIns="0" bIns="0" rtlCol="0" anchor="t"/>
          <a:lstStyle/>
          <a:p>
            <a:pPr marL="0" indent="0">
              <a:buNone/>
            </a:pPr>
            <a:r>
              <a:rPr lang="en-US" sz="1300" dirty="0">
                <a:solidFill>
                  <a:srgbClr val="F5F5F5"/>
                </a:solidFill>
                <a:latin typeface="Calibri" pitchFamily="34" charset="0"/>
                <a:ea typeface="Calibri" pitchFamily="34" charset="-122"/>
                <a:cs typeface="Calibri" pitchFamily="34" charset="-120"/>
              </a:rPr>
              <a:t>Build digital twin capability for onward application in manufacturing</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9184"/>
            <a:ext cx="11091672" cy="566928"/>
          </a:xfrm>
          <a:prstGeom prst="rect">
            <a:avLst/>
          </a:prstGeom>
          <a:noFill/>
        </p:spPr>
        <p:txBody>
          <a:bodyPr wrap="square" lIns="0" rIns="0" tIns="0" bIns="0" anchor="ctr">
            <a:spAutoFit/>
          </a:bodyPr>
          <a:lstStyle/>
          <a:p>
            <a:pPr algn="l"/>
            <a:r>
              <a:rPr sz="3400" b="1">
                <a:solidFill>
                  <a:srgbClr val="F5F5F5"/>
                </a:solidFill>
                <a:latin typeface="Cambria"/>
              </a:rPr>
              <a:t>Digital Twin of Katlabodi – Dairy Subsystem</a:t>
            </a:r>
          </a:p>
        </p:txBody>
      </p:sp>
      <p:sp>
        <p:nvSpPr>
          <p:cNvPr id="3" name="TextBox 2"/>
          <p:cNvSpPr txBox="1"/>
          <p:nvPr/>
        </p:nvSpPr>
        <p:spPr>
          <a:xfrm>
            <a:off x="548640" y="914400"/>
            <a:ext cx="11091672" cy="274320"/>
          </a:xfrm>
          <a:prstGeom prst="rect">
            <a:avLst/>
          </a:prstGeom>
          <a:noFill/>
        </p:spPr>
        <p:txBody>
          <a:bodyPr wrap="square" lIns="0" rIns="0" tIns="0" bIns="0" anchor="ctr">
            <a:spAutoFit/>
          </a:bodyPr>
          <a:lstStyle/>
          <a:p>
            <a:pPr algn="l"/>
            <a:r>
              <a:rPr sz="1300" b="0">
                <a:solidFill>
                  <a:srgbClr val="97BC62"/>
                </a:solidFill>
                <a:latin typeface="Calibri"/>
              </a:rPr>
              <a:t>Objective  ·  Net Zero, with household incomes raised at the earliest</a:t>
            </a:r>
          </a:p>
        </p:txBody>
      </p:sp>
      <p:sp>
        <p:nvSpPr>
          <p:cNvPr id="4" name="Rounded Rectangle 3"/>
          <p:cNvSpPr/>
          <p:nvPr/>
        </p:nvSpPr>
        <p:spPr>
          <a:xfrm>
            <a:off x="548640" y="1371600"/>
            <a:ext cx="11091672" cy="2130552"/>
          </a:xfrm>
          <a:prstGeom prst="roundRect">
            <a:avLst>
              <a:gd name="adj" fmla="val 2319"/>
            </a:avLst>
          </a:prstGeom>
          <a:solidFill>
            <a:srgbClr val="22492B"/>
          </a:solidFill>
          <a:ln w="12700">
            <a:solidFill>
              <a:srgbClr val="224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72768"/>
            <a:ext cx="5486400" cy="274320"/>
          </a:xfrm>
          <a:prstGeom prst="rect">
            <a:avLst/>
          </a:prstGeom>
          <a:noFill/>
        </p:spPr>
        <p:txBody>
          <a:bodyPr wrap="square" lIns="0" rIns="0" tIns="0" bIns="0" anchor="ctr">
            <a:spAutoFit/>
          </a:bodyPr>
          <a:lstStyle/>
          <a:p>
            <a:pPr algn="l"/>
            <a:r>
              <a:rPr sz="1400" b="1" spc="200" kern="0">
                <a:solidFill>
                  <a:srgbClr val="97BC62"/>
                </a:solidFill>
                <a:latin typeface="Calibri"/>
              </a:rPr>
              <a:t>DAIRY VALUE CHAIN</a:t>
            </a:r>
          </a:p>
        </p:txBody>
      </p:sp>
      <p:sp>
        <p:nvSpPr>
          <p:cNvPr id="6" name="Rounded Rectangle 5"/>
          <p:cNvSpPr/>
          <p:nvPr/>
        </p:nvSpPr>
        <p:spPr>
          <a:xfrm>
            <a:off x="777240" y="1993392"/>
            <a:ext cx="3200400" cy="1234440"/>
          </a:xfrm>
          <a:prstGeom prst="roundRect">
            <a:avLst>
              <a:gd name="adj" fmla="val 4242"/>
            </a:avLst>
          </a:prstGeom>
          <a:solidFill>
            <a:srgbClr val="2C5F2D"/>
          </a:solidFill>
          <a:ln w="12700">
            <a:solidFill>
              <a:srgbClr val="2C5F2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78408" y="2212848"/>
            <a:ext cx="182880" cy="182880"/>
          </a:xfrm>
          <a:prstGeom prst="ellipse">
            <a:avLst/>
          </a:prstGeom>
          <a:solidFill>
            <a:srgbClr val="97BC62"/>
          </a:solidFill>
          <a:ln w="12700">
            <a:solidFill>
              <a:srgbClr val="97BC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2468880"/>
            <a:ext cx="2798064" cy="274320"/>
          </a:xfrm>
          <a:prstGeom prst="rect">
            <a:avLst/>
          </a:prstGeom>
          <a:noFill/>
        </p:spPr>
        <p:txBody>
          <a:bodyPr wrap="square" lIns="0" rIns="0" tIns="0" bIns="0" anchor="t">
            <a:spAutoFit/>
          </a:bodyPr>
          <a:lstStyle/>
          <a:p>
            <a:pPr algn="l"/>
            <a:r>
              <a:rPr sz="1700" b="1">
                <a:solidFill>
                  <a:srgbClr val="F5F5F5"/>
                </a:solidFill>
                <a:latin typeface="Cambria"/>
              </a:rPr>
              <a:t>Input</a:t>
            </a:r>
          </a:p>
        </p:txBody>
      </p:sp>
      <p:sp>
        <p:nvSpPr>
          <p:cNvPr id="9" name="TextBox 8"/>
          <p:cNvSpPr txBox="1"/>
          <p:nvPr/>
        </p:nvSpPr>
        <p:spPr>
          <a:xfrm>
            <a:off x="978408" y="2816352"/>
            <a:ext cx="2798064" cy="365760"/>
          </a:xfrm>
          <a:prstGeom prst="rect">
            <a:avLst/>
          </a:prstGeom>
          <a:noFill/>
        </p:spPr>
        <p:txBody>
          <a:bodyPr wrap="square" lIns="0" rIns="0" tIns="0" bIns="0" anchor="t">
            <a:spAutoFit/>
          </a:bodyPr>
          <a:lstStyle/>
          <a:p>
            <a:pPr algn="l"/>
            <a:r>
              <a:rPr sz="1300" b="0">
                <a:solidFill>
                  <a:srgbClr val="C9D8B6"/>
                </a:solidFill>
                <a:latin typeface="Calibri"/>
              </a:rPr>
              <a:t>Feed</a:t>
            </a:r>
          </a:p>
          <a:p>
            <a:pPr algn="l">
              <a:spcBef>
                <a:spcPts val="200"/>
              </a:spcBef>
            </a:pPr>
            <a:r>
              <a:rPr sz="1300" b="0">
                <a:solidFill>
                  <a:srgbClr val="C9D8B6"/>
                </a:solidFill>
                <a:latin typeface="Calibri"/>
              </a:rPr>
              <a:t>Water</a:t>
            </a:r>
          </a:p>
        </p:txBody>
      </p:sp>
      <p:sp>
        <p:nvSpPr>
          <p:cNvPr id="10" name="Right Arrow 9"/>
          <p:cNvSpPr/>
          <p:nvPr/>
        </p:nvSpPr>
        <p:spPr>
          <a:xfrm>
            <a:off x="4005072" y="2528316"/>
            <a:ext cx="461771" cy="164592"/>
          </a:xfrm>
          <a:prstGeom prst="rightArrow">
            <a:avLst/>
          </a:prstGeom>
          <a:solidFill>
            <a:srgbClr val="E8C547"/>
          </a:solidFill>
          <a:ln w="12700">
            <a:solidFill>
              <a:srgbClr val="E8C5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94275" y="1993392"/>
            <a:ext cx="3200400" cy="1234440"/>
          </a:xfrm>
          <a:prstGeom prst="roundRect">
            <a:avLst>
              <a:gd name="adj" fmla="val 4242"/>
            </a:avLst>
          </a:prstGeom>
          <a:solidFill>
            <a:srgbClr val="2C5F2D"/>
          </a:solidFill>
          <a:ln w="12700">
            <a:solidFill>
              <a:srgbClr val="2C5F2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695443" y="2212848"/>
            <a:ext cx="182880" cy="182880"/>
          </a:xfrm>
          <a:prstGeom prst="ellipse">
            <a:avLst/>
          </a:prstGeom>
          <a:solidFill>
            <a:srgbClr val="97BC62"/>
          </a:solidFill>
          <a:ln w="12700">
            <a:solidFill>
              <a:srgbClr val="97BC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95443" y="2468880"/>
            <a:ext cx="2798064" cy="274320"/>
          </a:xfrm>
          <a:prstGeom prst="rect">
            <a:avLst/>
          </a:prstGeom>
          <a:noFill/>
        </p:spPr>
        <p:txBody>
          <a:bodyPr wrap="square" lIns="0" rIns="0" tIns="0" bIns="0" anchor="t">
            <a:spAutoFit/>
          </a:bodyPr>
          <a:lstStyle/>
          <a:p>
            <a:pPr algn="l"/>
            <a:r>
              <a:rPr sz="1700" b="1">
                <a:solidFill>
                  <a:srgbClr val="F5F5F5"/>
                </a:solidFill>
                <a:latin typeface="Cambria"/>
              </a:rPr>
              <a:t>Process</a:t>
            </a:r>
          </a:p>
        </p:txBody>
      </p:sp>
      <p:sp>
        <p:nvSpPr>
          <p:cNvPr id="14" name="TextBox 13"/>
          <p:cNvSpPr txBox="1"/>
          <p:nvPr/>
        </p:nvSpPr>
        <p:spPr>
          <a:xfrm>
            <a:off x="4695443" y="2816352"/>
            <a:ext cx="2798064" cy="365760"/>
          </a:xfrm>
          <a:prstGeom prst="rect">
            <a:avLst/>
          </a:prstGeom>
          <a:noFill/>
        </p:spPr>
        <p:txBody>
          <a:bodyPr wrap="square" lIns="0" rIns="0" tIns="0" bIns="0" anchor="t">
            <a:spAutoFit/>
          </a:bodyPr>
          <a:lstStyle/>
          <a:p>
            <a:pPr algn="l"/>
            <a:r>
              <a:rPr sz="1300" b="0">
                <a:solidFill>
                  <a:srgbClr val="C9D8B6"/>
                </a:solidFill>
                <a:latin typeface="Calibri"/>
              </a:rPr>
              <a:t>Cowherd</a:t>
            </a:r>
          </a:p>
        </p:txBody>
      </p:sp>
      <p:sp>
        <p:nvSpPr>
          <p:cNvPr id="15" name="Right Arrow 14"/>
          <p:cNvSpPr/>
          <p:nvPr/>
        </p:nvSpPr>
        <p:spPr>
          <a:xfrm>
            <a:off x="7722107" y="2528316"/>
            <a:ext cx="461771" cy="164592"/>
          </a:xfrm>
          <a:prstGeom prst="rightArrow">
            <a:avLst/>
          </a:prstGeom>
          <a:solidFill>
            <a:srgbClr val="E8C547"/>
          </a:solidFill>
          <a:ln w="12700">
            <a:solidFill>
              <a:srgbClr val="E8C5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11311" y="1993392"/>
            <a:ext cx="3200400" cy="1234440"/>
          </a:xfrm>
          <a:prstGeom prst="roundRect">
            <a:avLst>
              <a:gd name="adj" fmla="val 4242"/>
            </a:avLst>
          </a:prstGeom>
          <a:solidFill>
            <a:srgbClr val="2C5F2D"/>
          </a:solidFill>
          <a:ln w="12700">
            <a:solidFill>
              <a:srgbClr val="2C5F2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412480" y="2212848"/>
            <a:ext cx="182880" cy="182880"/>
          </a:xfrm>
          <a:prstGeom prst="ellipse">
            <a:avLst/>
          </a:prstGeom>
          <a:solidFill>
            <a:srgbClr val="97BC62"/>
          </a:solidFill>
          <a:ln w="12700">
            <a:solidFill>
              <a:srgbClr val="97BC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80" y="2468880"/>
            <a:ext cx="2798064" cy="274320"/>
          </a:xfrm>
          <a:prstGeom prst="rect">
            <a:avLst/>
          </a:prstGeom>
          <a:noFill/>
        </p:spPr>
        <p:txBody>
          <a:bodyPr wrap="square" lIns="0" rIns="0" tIns="0" bIns="0" anchor="t">
            <a:spAutoFit/>
          </a:bodyPr>
          <a:lstStyle/>
          <a:p>
            <a:pPr algn="l"/>
            <a:r>
              <a:rPr sz="1700" b="1">
                <a:solidFill>
                  <a:srgbClr val="F5F5F5"/>
                </a:solidFill>
                <a:latin typeface="Cambria"/>
              </a:rPr>
              <a:t>Output</a:t>
            </a:r>
          </a:p>
        </p:txBody>
      </p:sp>
      <p:sp>
        <p:nvSpPr>
          <p:cNvPr id="19" name="TextBox 18"/>
          <p:cNvSpPr txBox="1"/>
          <p:nvPr/>
        </p:nvSpPr>
        <p:spPr>
          <a:xfrm>
            <a:off x="8412480" y="2816352"/>
            <a:ext cx="2798064" cy="365760"/>
          </a:xfrm>
          <a:prstGeom prst="rect">
            <a:avLst/>
          </a:prstGeom>
          <a:noFill/>
        </p:spPr>
        <p:txBody>
          <a:bodyPr wrap="square" lIns="0" rIns="0" tIns="0" bIns="0" anchor="t">
            <a:spAutoFit/>
          </a:bodyPr>
          <a:lstStyle/>
          <a:p>
            <a:pPr algn="l"/>
            <a:r>
              <a:rPr sz="1300" b="0">
                <a:solidFill>
                  <a:srgbClr val="C9D8B6"/>
                </a:solidFill>
                <a:latin typeface="Calibri"/>
              </a:rPr>
              <a:t>Milk → milk products</a:t>
            </a:r>
          </a:p>
          <a:p>
            <a:pPr algn="l">
              <a:spcBef>
                <a:spcPts val="200"/>
              </a:spcBef>
            </a:pPr>
            <a:r>
              <a:rPr sz="1300" b="0">
                <a:solidFill>
                  <a:srgbClr val="C9D8B6"/>
                </a:solidFill>
                <a:latin typeface="Calibri"/>
              </a:rPr>
              <a:t>Dung → biogas, biofertiliser</a:t>
            </a:r>
          </a:p>
        </p:txBody>
      </p:sp>
      <p:sp>
        <p:nvSpPr>
          <p:cNvPr id="20" name="Rounded Rectangle 19"/>
          <p:cNvSpPr/>
          <p:nvPr/>
        </p:nvSpPr>
        <p:spPr>
          <a:xfrm>
            <a:off x="548640" y="3703320"/>
            <a:ext cx="11091672" cy="2606040"/>
          </a:xfrm>
          <a:prstGeom prst="roundRect">
            <a:avLst>
              <a:gd name="adj" fmla="val 2319"/>
            </a:avLst>
          </a:prstGeom>
          <a:solidFill>
            <a:srgbClr val="22492B"/>
          </a:solidFill>
          <a:ln w="12700">
            <a:solidFill>
              <a:srgbClr val="224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3904487"/>
            <a:ext cx="5486400" cy="274320"/>
          </a:xfrm>
          <a:prstGeom prst="rect">
            <a:avLst/>
          </a:prstGeom>
          <a:noFill/>
        </p:spPr>
        <p:txBody>
          <a:bodyPr wrap="square" lIns="0" rIns="0" tIns="0" bIns="0" anchor="ctr">
            <a:spAutoFit/>
          </a:bodyPr>
          <a:lstStyle/>
          <a:p>
            <a:pPr algn="l"/>
            <a:r>
              <a:rPr sz="1400" b="1" spc="200" kern="0">
                <a:solidFill>
                  <a:srgbClr val="97BC62"/>
                </a:solidFill>
                <a:latin typeface="Calibri"/>
              </a:rPr>
              <a:t>BUILDING THE TWIN</a:t>
            </a:r>
          </a:p>
        </p:txBody>
      </p:sp>
      <p:sp>
        <p:nvSpPr>
          <p:cNvPr id="22" name="Rounded Rectangle 21"/>
          <p:cNvSpPr/>
          <p:nvPr/>
        </p:nvSpPr>
        <p:spPr>
          <a:xfrm>
            <a:off x="777240" y="4370831"/>
            <a:ext cx="164592" cy="164592"/>
          </a:xfrm>
          <a:prstGeom prst="roundRect">
            <a:avLst>
              <a:gd name="adj" fmla="val 14285"/>
            </a:avLst>
          </a:prstGeom>
          <a:solidFill>
            <a:srgbClr val="E8C547"/>
          </a:solidFill>
          <a:ln w="12700">
            <a:solidFill>
              <a:srgbClr val="E8C5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69848" y="4315968"/>
            <a:ext cx="4846320" cy="566928"/>
          </a:xfrm>
          <a:prstGeom prst="rect">
            <a:avLst/>
          </a:prstGeom>
          <a:noFill/>
        </p:spPr>
        <p:txBody>
          <a:bodyPr wrap="square" lIns="0" rIns="0" tIns="0" bIns="0" anchor="t">
            <a:spAutoFit/>
          </a:bodyPr>
          <a:lstStyle/>
          <a:p>
            <a:pPr algn="l"/>
            <a:r>
              <a:rPr sz="1400" b="0">
                <a:solidFill>
                  <a:srgbClr val="F5F5F5"/>
                </a:solidFill>
                <a:latin typeface="Calibri"/>
              </a:rPr>
              <a:t>Map the complete process and its dependencies</a:t>
            </a:r>
          </a:p>
        </p:txBody>
      </p:sp>
      <p:sp>
        <p:nvSpPr>
          <p:cNvPr id="24" name="Rounded Rectangle 23"/>
          <p:cNvSpPr/>
          <p:nvPr/>
        </p:nvSpPr>
        <p:spPr>
          <a:xfrm>
            <a:off x="777240" y="5029200"/>
            <a:ext cx="164592" cy="164592"/>
          </a:xfrm>
          <a:prstGeom prst="roundRect">
            <a:avLst>
              <a:gd name="adj" fmla="val 14285"/>
            </a:avLst>
          </a:prstGeom>
          <a:solidFill>
            <a:srgbClr val="E8C547"/>
          </a:solidFill>
          <a:ln w="12700">
            <a:solidFill>
              <a:srgbClr val="E8C5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69848" y="4974336"/>
            <a:ext cx="4846320" cy="566928"/>
          </a:xfrm>
          <a:prstGeom prst="rect">
            <a:avLst/>
          </a:prstGeom>
          <a:noFill/>
        </p:spPr>
        <p:txBody>
          <a:bodyPr wrap="square" lIns="0" rIns="0" tIns="0" bIns="0" anchor="t">
            <a:spAutoFit/>
          </a:bodyPr>
          <a:lstStyle/>
          <a:p>
            <a:pPr algn="l"/>
            <a:r>
              <a:rPr sz="1400" b="0">
                <a:solidFill>
                  <a:srgbClr val="F5F5F5"/>
                </a:solidFill>
                <a:latin typeface="Calibri"/>
              </a:rPr>
              <a:t>Define the variables; use synthetic data to build the twin</a:t>
            </a:r>
          </a:p>
        </p:txBody>
      </p:sp>
      <p:sp>
        <p:nvSpPr>
          <p:cNvPr id="26" name="Rounded Rectangle 25"/>
          <p:cNvSpPr/>
          <p:nvPr/>
        </p:nvSpPr>
        <p:spPr>
          <a:xfrm>
            <a:off x="777240" y="5687568"/>
            <a:ext cx="164592" cy="164592"/>
          </a:xfrm>
          <a:prstGeom prst="roundRect">
            <a:avLst>
              <a:gd name="adj" fmla="val 14285"/>
            </a:avLst>
          </a:prstGeom>
          <a:solidFill>
            <a:srgbClr val="E8C547"/>
          </a:solidFill>
          <a:ln w="12700">
            <a:solidFill>
              <a:srgbClr val="E8C5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69848" y="5632704"/>
            <a:ext cx="4846320" cy="566928"/>
          </a:xfrm>
          <a:prstGeom prst="rect">
            <a:avLst/>
          </a:prstGeom>
          <a:noFill/>
        </p:spPr>
        <p:txBody>
          <a:bodyPr wrap="square" lIns="0" rIns="0" tIns="0" bIns="0" anchor="t">
            <a:spAutoFit/>
          </a:bodyPr>
          <a:lstStyle/>
          <a:p>
            <a:pPr algn="l"/>
            <a:r>
              <a:rPr sz="1400" b="0">
                <a:solidFill>
                  <a:srgbClr val="F5F5F5"/>
                </a:solidFill>
                <a:latin typeface="Calibri"/>
              </a:rPr>
              <a:t>Identify and evaluate technology and investment to raise productivity</a:t>
            </a:r>
          </a:p>
        </p:txBody>
      </p:sp>
      <p:sp>
        <p:nvSpPr>
          <p:cNvPr id="28" name="Rounded Rectangle 27"/>
          <p:cNvSpPr/>
          <p:nvPr/>
        </p:nvSpPr>
        <p:spPr>
          <a:xfrm>
            <a:off x="6309360" y="4370831"/>
            <a:ext cx="164592" cy="164592"/>
          </a:xfrm>
          <a:prstGeom prst="roundRect">
            <a:avLst>
              <a:gd name="adj" fmla="val 14285"/>
            </a:avLst>
          </a:prstGeom>
          <a:solidFill>
            <a:srgbClr val="E8C547"/>
          </a:solidFill>
          <a:ln w="12700">
            <a:solidFill>
              <a:srgbClr val="E8C5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01968" y="4315968"/>
            <a:ext cx="4892040" cy="566928"/>
          </a:xfrm>
          <a:prstGeom prst="rect">
            <a:avLst/>
          </a:prstGeom>
          <a:noFill/>
        </p:spPr>
        <p:txBody>
          <a:bodyPr wrap="square" lIns="0" rIns="0" tIns="0" bIns="0" anchor="t">
            <a:spAutoFit/>
          </a:bodyPr>
          <a:lstStyle/>
          <a:p>
            <a:pPr algn="l"/>
            <a:r>
              <a:rPr sz="1400" b="0">
                <a:solidFill>
                  <a:srgbClr val="F5F5F5"/>
                </a:solidFill>
                <a:latin typeface="Calibri"/>
              </a:rPr>
              <a:t>Identify sources of finance</a:t>
            </a:r>
          </a:p>
        </p:txBody>
      </p:sp>
      <p:sp>
        <p:nvSpPr>
          <p:cNvPr id="30" name="Rounded Rectangle 29"/>
          <p:cNvSpPr/>
          <p:nvPr/>
        </p:nvSpPr>
        <p:spPr>
          <a:xfrm>
            <a:off x="6309360" y="5029200"/>
            <a:ext cx="164592" cy="164592"/>
          </a:xfrm>
          <a:prstGeom prst="roundRect">
            <a:avLst>
              <a:gd name="adj" fmla="val 14285"/>
            </a:avLst>
          </a:prstGeom>
          <a:solidFill>
            <a:srgbClr val="E8C547"/>
          </a:solidFill>
          <a:ln w="12700">
            <a:solidFill>
              <a:srgbClr val="E8C5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01968" y="4974336"/>
            <a:ext cx="4892040" cy="566928"/>
          </a:xfrm>
          <a:prstGeom prst="rect">
            <a:avLst/>
          </a:prstGeom>
          <a:noFill/>
        </p:spPr>
        <p:txBody>
          <a:bodyPr wrap="square" lIns="0" rIns="0" tIns="0" bIns="0" anchor="t">
            <a:spAutoFit/>
          </a:bodyPr>
          <a:lstStyle/>
          <a:p>
            <a:pPr algn="l"/>
            <a:r>
              <a:rPr sz="1400" b="0">
                <a:solidFill>
                  <a:srgbClr val="F5F5F5"/>
                </a:solidFill>
                <a:latin typeface="Calibri"/>
              </a:rPr>
              <a:t>Assess the risk factors</a:t>
            </a:r>
          </a:p>
        </p:txBody>
      </p:sp>
      <p:sp>
        <p:nvSpPr>
          <p:cNvPr id="32" name="Rounded Rectangle 31"/>
          <p:cNvSpPr/>
          <p:nvPr/>
        </p:nvSpPr>
        <p:spPr>
          <a:xfrm>
            <a:off x="6309360" y="5687568"/>
            <a:ext cx="164592" cy="164592"/>
          </a:xfrm>
          <a:prstGeom prst="roundRect">
            <a:avLst>
              <a:gd name="adj" fmla="val 14285"/>
            </a:avLst>
          </a:prstGeom>
          <a:solidFill>
            <a:srgbClr val="E8C547"/>
          </a:solidFill>
          <a:ln w="12700">
            <a:solidFill>
              <a:srgbClr val="E8C5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601968" y="5632704"/>
            <a:ext cx="4892040" cy="566928"/>
          </a:xfrm>
          <a:prstGeom prst="rect">
            <a:avLst/>
          </a:prstGeom>
          <a:noFill/>
        </p:spPr>
        <p:txBody>
          <a:bodyPr wrap="square" lIns="0" rIns="0" tIns="0" bIns="0" anchor="t">
            <a:spAutoFit/>
          </a:bodyPr>
          <a:lstStyle/>
          <a:p>
            <a:pPr algn="l"/>
            <a:r>
              <a:rPr sz="1400" b="0">
                <a:solidFill>
                  <a:srgbClr val="F5F5F5"/>
                </a:solidFill>
                <a:latin typeface="Calibri"/>
              </a:rPr>
              <a:t>AI model to simulate, predict and manage the outcomes</a:t>
            </a:r>
          </a:p>
        </p:txBody>
      </p:sp>
    </p:spTree>
    <p:extLst>
      <p:ext uri="{BB962C8B-B14F-4D97-AF65-F5344CB8AC3E}">
        <p14:creationId xmlns:p14="http://schemas.microsoft.com/office/powerpoint/2010/main" val="2579809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230</Words>
  <Application>Microsoft Office PowerPoint</Application>
  <PresentationFormat>Widescreen</PresentationFormat>
  <Paragraphs>40</Paragraphs>
  <Slides>2</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Arial</vt:lpstr>
      <vt:lpstr>Calibri</vt:lpstr>
      <vt:lpstr>Cambria</vt:lpstr>
      <vt:lpstr>Office Theme</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amar nath</cp:lastModifiedBy>
  <cp:revision>2</cp:revision>
  <dcterms:created xsi:type="dcterms:W3CDTF">2026-09-11T14:55:03Z</dcterms:created>
  <dcterms:modified xsi:type="dcterms:W3CDTF">2026-09-16T04:54:23Z</dcterms:modified>
</cp:coreProperties>
</file>