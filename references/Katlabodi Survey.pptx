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54" r:id="rId1"/>
  </p:sldMasterIdLst>
  <p:notesMasterIdLst>
    <p:notesMasterId r:id="rId10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  <p:embeddedFont>
      <p:font typeface="Roboto Condensed" panose="02000000000000000000" pitchFamily="2" charset="0"/>
      <p:regular r:id="rId19"/>
    </p:embeddedFont>
    <p:embeddedFont>
      <p:font typeface="Roboto Condensed Bold" panose="020B0604020202020204" charset="0"/>
      <p:regular r:id="rId20"/>
    </p:embeddedFont>
    <p:embeddedFont>
      <p:font typeface="Roboto Condensed Bold Italics" panose="020B0604020202020204" charset="0"/>
      <p:regular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59DD1-3BC8-431F-A444-01B939DAF013}" type="datetimeFigureOut">
              <a:rPr lang="en-IN" smtClean="0"/>
              <a:t>17-09-2026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1A7A7E-CF15-42EC-B5D7-201CA0FB7E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7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Seven-slide field assessment of Katlabodi: demographics and income, infrastructure and governance gaps, agricultural profile, the ecological shift in pest concentration, market dynamics, water and energy bottlenecks, and untapped development potential.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2433" y="2171701"/>
            <a:ext cx="13238487" cy="4994372"/>
          </a:xfrm>
        </p:spPr>
        <p:txBody>
          <a:bodyPr anchor="b"/>
          <a:lstStyle>
            <a:lvl1pPr>
              <a:defRPr sz="10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2433" y="7166070"/>
            <a:ext cx="13238487" cy="129213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02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25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4292600"/>
            <a:ext cx="13238486" cy="2873471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3" y="7166072"/>
            <a:ext cx="13238487" cy="1290600"/>
          </a:xfrm>
        </p:spPr>
        <p:txBody>
          <a:bodyPr anchor="t"/>
          <a:lstStyle>
            <a:lvl1pPr marL="0" indent="0" algn="l">
              <a:buNone/>
              <a:defRPr sz="3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67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4969" y="3090863"/>
            <a:ext cx="6594509" cy="6293645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81740" y="3084139"/>
            <a:ext cx="6594512" cy="6300368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70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70" y="2857500"/>
            <a:ext cx="6594507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4969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481743" y="2857500"/>
            <a:ext cx="659450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481743" y="3771900"/>
            <a:ext cx="6594509" cy="5612607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37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737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154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0" y="2171700"/>
            <a:ext cx="5101596" cy="2171700"/>
          </a:xfrm>
        </p:spPr>
        <p:txBody>
          <a:bodyPr anchor="b"/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6925" y="2171700"/>
            <a:ext cx="7793996" cy="68580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0" y="4693921"/>
            <a:ext cx="5101595" cy="4343399"/>
          </a:xfrm>
        </p:spPr>
        <p:txBody>
          <a:bodyPr/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7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0861" y="2781288"/>
            <a:ext cx="7639359" cy="2362212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24319" y="1714500"/>
            <a:ext cx="4800600" cy="6858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7627469" cy="2057400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547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5" y="7200880"/>
            <a:ext cx="13238486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32433" y="1028700"/>
            <a:ext cx="13238487" cy="54609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4" y="8050988"/>
            <a:ext cx="13238484" cy="74056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704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2" y="2171700"/>
            <a:ext cx="13238489" cy="2971800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5486400"/>
            <a:ext cx="13238489" cy="35433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1317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2" y="2171700"/>
            <a:ext cx="11998973" cy="3485061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895601" y="5656761"/>
            <a:ext cx="10919474" cy="51326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1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2432" y="6525986"/>
            <a:ext cx="13238489" cy="2514600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1347443" y="1456880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5735" y="3920681"/>
            <a:ext cx="1202868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83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7041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2431" y="4686302"/>
            <a:ext cx="13238490" cy="2479770"/>
          </a:xfrm>
        </p:spPr>
        <p:txBody>
          <a:bodyPr anchor="b"/>
          <a:lstStyle>
            <a:lvl1pPr algn="l">
              <a:defRPr sz="6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32" y="7166072"/>
            <a:ext cx="13238489" cy="1290600"/>
          </a:xfrm>
        </p:spPr>
        <p:txBody>
          <a:bodyPr anchor="t"/>
          <a:lstStyle>
            <a:lvl1pPr marL="0" indent="0" algn="l">
              <a:buNone/>
              <a:defRPr sz="3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32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9421" y="2971800"/>
            <a:ext cx="4420299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978695" y="4000500"/>
            <a:ext cx="4391025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5489" y="2971800"/>
            <a:ext cx="4404362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5809659" y="4000500"/>
            <a:ext cx="4420191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2971800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87051" y="4000500"/>
            <a:ext cx="4398170" cy="5384007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8695" y="6376424"/>
            <a:ext cx="4410075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78695" y="3314700"/>
            <a:ext cx="4410075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978695" y="7240817"/>
            <a:ext cx="4410075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34063" y="6376424"/>
            <a:ext cx="4395788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834062" y="3314700"/>
            <a:ext cx="4395788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5832033" y="7240816"/>
            <a:ext cx="4401609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87051" y="6376424"/>
            <a:ext cx="4398170" cy="864393"/>
          </a:xfrm>
        </p:spPr>
        <p:txBody>
          <a:bodyPr anchor="b">
            <a:noAutofit/>
          </a:bodyPr>
          <a:lstStyle>
            <a:lvl1pPr marL="0" indent="0">
              <a:buNone/>
              <a:defRPr sz="36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687049" y="3314700"/>
            <a:ext cx="4398170" cy="2286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86863" y="7240813"/>
            <a:ext cx="4403996" cy="98878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5589213" y="3200400"/>
            <a:ext cx="0" cy="59436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443341" y="3200400"/>
            <a:ext cx="0" cy="595032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81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611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456319" y="645320"/>
            <a:ext cx="2628902" cy="8739188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8695" y="1331121"/>
            <a:ext cx="11134724" cy="80533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122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315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4004528"/>
            <a:ext cx="6055518" cy="6282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4338521"/>
            <a:ext cx="2283618" cy="354818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2913518" y="2514600"/>
            <a:ext cx="4229100" cy="42291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11999119" y="1"/>
            <a:ext cx="2405081" cy="17121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2908817" y="9144000"/>
            <a:ext cx="1490601" cy="1143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5656718" y="0"/>
            <a:ext cx="1028700" cy="1714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69167" y="679077"/>
            <a:ext cx="14107085" cy="210079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4969" y="3079378"/>
            <a:ext cx="13419812" cy="6293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5233459" y="2686052"/>
            <a:ext cx="1485899" cy="4571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3427360" y="4837946"/>
            <a:ext cx="5789693" cy="45720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5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5528811" y="443594"/>
            <a:ext cx="1257299" cy="11515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42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7553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  <p:sldLayoutId id="2147483872" r:id="rId18"/>
  </p:sldLayoutIdLst>
  <p:txStyles>
    <p:titleStyle>
      <a:lvl1pPr algn="l" defTabSz="685800" rtl="0" eaLnBrk="1" latinLnBrk="0" hangingPunct="1">
        <a:spcBef>
          <a:spcPct val="0"/>
        </a:spcBef>
        <a:buNone/>
        <a:defRPr sz="63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514350" indent="-51435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3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1114425" indent="-428625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7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714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2400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30861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7590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44577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51435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5829300" indent="-342900" algn="l" defTabSz="685800" rtl="0" eaLnBrk="1" latinLnBrk="0" hangingPunct="1">
        <a:spcBef>
          <a:spcPts val="15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26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49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5" Type="http://schemas.openxmlformats.org/officeDocument/2006/relationships/image" Target="../media/image53.png"/><Relationship Id="rId33" Type="http://schemas.openxmlformats.org/officeDocument/2006/relationships/image" Target="../media/image61.png"/><Relationship Id="rId2" Type="http://schemas.openxmlformats.org/officeDocument/2006/relationships/image" Target="../media/image30.png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29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24" Type="http://schemas.openxmlformats.org/officeDocument/2006/relationships/image" Target="../media/image52.png"/><Relationship Id="rId32" Type="http://schemas.openxmlformats.org/officeDocument/2006/relationships/image" Target="../media/image60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23" Type="http://schemas.openxmlformats.org/officeDocument/2006/relationships/image" Target="../media/image51.png"/><Relationship Id="rId28" Type="http://schemas.openxmlformats.org/officeDocument/2006/relationships/image" Target="../media/image56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31" Type="http://schemas.openxmlformats.org/officeDocument/2006/relationships/image" Target="../media/image59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Relationship Id="rId22" Type="http://schemas.openxmlformats.org/officeDocument/2006/relationships/image" Target="../media/image50.png"/><Relationship Id="rId27" Type="http://schemas.openxmlformats.org/officeDocument/2006/relationships/image" Target="../media/image55.png"/><Relationship Id="rId30" Type="http://schemas.openxmlformats.org/officeDocument/2006/relationships/image" Target="../media/image58.png"/><Relationship Id="rId8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17" Type="http://schemas.openxmlformats.org/officeDocument/2006/relationships/image" Target="../media/image88.png"/><Relationship Id="rId2" Type="http://schemas.openxmlformats.org/officeDocument/2006/relationships/image" Target="../media/image73.png"/><Relationship Id="rId16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5" Type="http://schemas.openxmlformats.org/officeDocument/2006/relationships/image" Target="../media/image8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Relationship Id="rId14" Type="http://schemas.openxmlformats.org/officeDocument/2006/relationships/image" Target="../media/image8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100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99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10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18" Type="http://schemas.openxmlformats.org/officeDocument/2006/relationships/image" Target="../media/image119.png"/><Relationship Id="rId3" Type="http://schemas.openxmlformats.org/officeDocument/2006/relationships/image" Target="../media/image104.png"/><Relationship Id="rId21" Type="http://schemas.openxmlformats.org/officeDocument/2006/relationships/image" Target="../media/image122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17" Type="http://schemas.openxmlformats.org/officeDocument/2006/relationships/image" Target="../media/image118.png"/><Relationship Id="rId2" Type="http://schemas.openxmlformats.org/officeDocument/2006/relationships/image" Target="../media/image103.png"/><Relationship Id="rId16" Type="http://schemas.openxmlformats.org/officeDocument/2006/relationships/image" Target="../media/image117.png"/><Relationship Id="rId20" Type="http://schemas.openxmlformats.org/officeDocument/2006/relationships/image" Target="../media/image1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5" Type="http://schemas.openxmlformats.org/officeDocument/2006/relationships/image" Target="../media/image116.png"/><Relationship Id="rId10" Type="http://schemas.openxmlformats.org/officeDocument/2006/relationships/image" Target="../media/image111.png"/><Relationship Id="rId19" Type="http://schemas.openxmlformats.org/officeDocument/2006/relationships/image" Target="../media/image120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Relationship Id="rId14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95760" y="3017520"/>
            <a:ext cx="1755648" cy="1755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3017520"/>
            <a:ext cx="1755648" cy="1755648"/>
          </a:xfrm>
          <a:prstGeom prst="rect">
            <a:avLst/>
          </a:prstGeom>
          <a:solidFill>
            <a:srgbClr val="24456E"/>
          </a:solidFill>
          <a:ln/>
        </p:spPr>
      </p:sp>
      <p:sp>
        <p:nvSpPr>
          <p:cNvPr id="4" name="Shape 2"/>
          <p:cNvSpPr/>
          <p:nvPr/>
        </p:nvSpPr>
        <p:spPr>
          <a:xfrm>
            <a:off x="15636240" y="3017520"/>
            <a:ext cx="1755648" cy="1755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1795760" y="4937760"/>
            <a:ext cx="1755648" cy="1755648"/>
          </a:xfrm>
          <a:prstGeom prst="rect">
            <a:avLst/>
          </a:prstGeom>
          <a:solidFill>
            <a:srgbClr val="2B4E79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0" y="4937760"/>
            <a:ext cx="1755648" cy="1755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5636240" y="4937760"/>
            <a:ext cx="1755648" cy="1755648"/>
          </a:xfrm>
          <a:prstGeom prst="rect">
            <a:avLst/>
          </a:prstGeom>
          <a:solidFill>
            <a:srgbClr val="24456E"/>
          </a:solidFill>
          <a:ln/>
        </p:spPr>
      </p:sp>
      <p:sp>
        <p:nvSpPr>
          <p:cNvPr id="8" name="Shape 6"/>
          <p:cNvSpPr/>
          <p:nvPr/>
        </p:nvSpPr>
        <p:spPr>
          <a:xfrm>
            <a:off x="11795760" y="6858000"/>
            <a:ext cx="1755648" cy="17556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0" y="6858000"/>
            <a:ext cx="1755648" cy="1755648"/>
          </a:xfrm>
          <a:prstGeom prst="rect">
            <a:avLst/>
          </a:prstGeom>
          <a:solidFill>
            <a:srgbClr val="2B4E79"/>
          </a:solidFill>
          <a:ln/>
        </p:spPr>
      </p:sp>
      <p:sp>
        <p:nvSpPr>
          <p:cNvPr id="10" name="Shape 8"/>
          <p:cNvSpPr/>
          <p:nvPr/>
        </p:nvSpPr>
        <p:spPr>
          <a:xfrm>
            <a:off x="15636240" y="6858000"/>
            <a:ext cx="1755648" cy="1755648"/>
          </a:xfrm>
          <a:prstGeom prst="rect">
            <a:avLst/>
          </a:prstGeom>
          <a:solidFill>
            <a:srgbClr val="24456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909060"/>
            <a:ext cx="16637508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Katlabodi Village Survey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2806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Assessment of Livelihood, Infrastructure and Agricultural Systems</a:t>
            </a:r>
            <a:endParaRPr lang="en-US" sz="2550" dirty="0">
              <a:solidFill>
                <a:schemeClr val="tx2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22960" y="8709660"/>
            <a:ext cx="1663750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Represented by : VNIT Nagpur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9808" y="844941"/>
            <a:ext cx="8650224" cy="2339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82"/>
              </a:lnSpc>
            </a:pPr>
            <a:r>
              <a:rPr lang="en-US" sz="8982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Demographics &amp; Economic Baseline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3214004"/>
            <a:ext cx="1968804" cy="437279"/>
          </a:xfrm>
          <a:custGeom>
            <a:avLst/>
            <a:gdLst/>
            <a:ahLst/>
            <a:cxnLst/>
            <a:rect l="l" t="t" r="r" b="b"/>
            <a:pathLst>
              <a:path w="1968804" h="437279">
                <a:moveTo>
                  <a:pt x="0" y="0"/>
                </a:moveTo>
                <a:lnTo>
                  <a:pt x="1968804" y="0"/>
                </a:lnTo>
                <a:lnTo>
                  <a:pt x="196880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3848060"/>
            <a:ext cx="4801694" cy="4941258"/>
          </a:xfrm>
          <a:custGeom>
            <a:avLst/>
            <a:gdLst/>
            <a:ahLst/>
            <a:cxnLst/>
            <a:rect l="l" t="t" r="r" b="b"/>
            <a:pathLst>
              <a:path w="4801694" h="4941258">
                <a:moveTo>
                  <a:pt x="0" y="0"/>
                </a:moveTo>
                <a:lnTo>
                  <a:pt x="4801694" y="0"/>
                </a:lnTo>
                <a:lnTo>
                  <a:pt x="4801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1600" y="6151422"/>
            <a:ext cx="1645920" cy="98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66"/>
              </a:lnSpc>
            </a:pPr>
            <a:r>
              <a:rPr lang="en-US" sz="746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75%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89888" y="7165448"/>
            <a:ext cx="1865376" cy="448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3"/>
              </a:lnSpc>
            </a:pPr>
            <a:r>
              <a:rPr lang="en-US" sz="323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Agriculture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6432" y="4767806"/>
            <a:ext cx="1280160" cy="81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7"/>
              </a:lnSpc>
            </a:pPr>
            <a:r>
              <a:rPr lang="en-US" sz="6087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38144" y="5595187"/>
            <a:ext cx="1463040" cy="28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0"/>
              </a:lnSpc>
            </a:pPr>
            <a:r>
              <a:rPr lang="en-US" sz="2120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Other sectors</a:t>
            </a:r>
          </a:p>
        </p:txBody>
      </p:sp>
      <p:sp>
        <p:nvSpPr>
          <p:cNvPr id="10" name="Freeform 10"/>
          <p:cNvSpPr/>
          <p:nvPr/>
        </p:nvSpPr>
        <p:spPr>
          <a:xfrm>
            <a:off x="5654842" y="3848060"/>
            <a:ext cx="5457962" cy="4941258"/>
          </a:xfrm>
          <a:custGeom>
            <a:avLst/>
            <a:gdLst/>
            <a:ahLst/>
            <a:cxnLst/>
            <a:rect l="l" t="t" r="r" b="b"/>
            <a:pathLst>
              <a:path w="5457962" h="4941258">
                <a:moveTo>
                  <a:pt x="0" y="0"/>
                </a:moveTo>
                <a:lnTo>
                  <a:pt x="5457962" y="0"/>
                </a:lnTo>
                <a:lnTo>
                  <a:pt x="5457962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092354" y="4285339"/>
            <a:ext cx="1093780" cy="1289974"/>
          </a:xfrm>
          <a:custGeom>
            <a:avLst/>
            <a:gdLst/>
            <a:ahLst/>
            <a:cxnLst/>
            <a:rect l="l" t="t" r="r" b="b"/>
            <a:pathLst>
              <a:path w="1093780" h="1289974">
                <a:moveTo>
                  <a:pt x="0" y="0"/>
                </a:moveTo>
                <a:lnTo>
                  <a:pt x="1093780" y="0"/>
                </a:lnTo>
                <a:lnTo>
                  <a:pt x="109378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11110" y="4493047"/>
            <a:ext cx="448450" cy="874559"/>
          </a:xfrm>
          <a:custGeom>
            <a:avLst/>
            <a:gdLst/>
            <a:ahLst/>
            <a:cxnLst/>
            <a:rect l="l" t="t" r="r" b="b"/>
            <a:pathLst>
              <a:path w="448450" h="874559">
                <a:moveTo>
                  <a:pt x="0" y="0"/>
                </a:moveTo>
                <a:lnTo>
                  <a:pt x="448450" y="0"/>
                </a:lnTo>
                <a:lnTo>
                  <a:pt x="44845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187184" y="4558366"/>
            <a:ext cx="2505456" cy="771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</a:pPr>
            <a:r>
              <a:rPr lang="en-US" sz="5730" b="1">
                <a:solidFill>
                  <a:srgbClr val="7DA85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₹50,000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42048" y="5375654"/>
            <a:ext cx="3182112" cy="70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Average household income per year</a:t>
            </a:r>
          </a:p>
        </p:txBody>
      </p:sp>
      <p:sp>
        <p:nvSpPr>
          <p:cNvPr id="15" name="Freeform 15"/>
          <p:cNvSpPr/>
          <p:nvPr/>
        </p:nvSpPr>
        <p:spPr>
          <a:xfrm>
            <a:off x="6092354" y="6209369"/>
            <a:ext cx="4364182" cy="229572"/>
          </a:xfrm>
          <a:custGeom>
            <a:avLst/>
            <a:gdLst/>
            <a:ahLst/>
            <a:cxnLst/>
            <a:rect l="l" t="t" r="r" b="b"/>
            <a:pathLst>
              <a:path w="4364182" h="229572">
                <a:moveTo>
                  <a:pt x="0" y="0"/>
                </a:moveTo>
                <a:lnTo>
                  <a:pt x="4364182" y="0"/>
                </a:lnTo>
                <a:lnTo>
                  <a:pt x="436418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092354" y="6635716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11110" y="6854356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278624" y="6893515"/>
            <a:ext cx="2377440" cy="771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0"/>
              </a:lnSpc>
            </a:pPr>
            <a:r>
              <a:rPr lang="en-US" sz="5730" b="1">
                <a:solidFill>
                  <a:srgbClr val="7DA85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₹15,000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296912" y="7757450"/>
            <a:ext cx="1792224" cy="34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27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Average salary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528440" y="4066699"/>
            <a:ext cx="5895474" cy="5148966"/>
          </a:xfrm>
          <a:custGeom>
            <a:avLst/>
            <a:gdLst/>
            <a:ahLst/>
            <a:cxnLst/>
            <a:rect l="l" t="t" r="r" b="b"/>
            <a:pathLst>
              <a:path w="5895474" h="5148966">
                <a:moveTo>
                  <a:pt x="0" y="0"/>
                </a:moveTo>
                <a:lnTo>
                  <a:pt x="5895474" y="0"/>
                </a:lnTo>
                <a:lnTo>
                  <a:pt x="5895474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184708" y="4711687"/>
            <a:ext cx="1750048" cy="2579949"/>
          </a:xfrm>
          <a:custGeom>
            <a:avLst/>
            <a:gdLst/>
            <a:ahLst/>
            <a:cxnLst/>
            <a:rect l="l" t="t" r="r" b="b"/>
            <a:pathLst>
              <a:path w="1750048" h="2579949">
                <a:moveTo>
                  <a:pt x="0" y="0"/>
                </a:moveTo>
                <a:lnTo>
                  <a:pt x="1750048" y="0"/>
                </a:lnTo>
                <a:lnTo>
                  <a:pt x="175004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2508992" y="5897529"/>
            <a:ext cx="1133856" cy="55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5"/>
              </a:lnSpc>
            </a:pPr>
            <a:r>
              <a:rPr lang="en-US" sz="4135" b="1">
                <a:solidFill>
                  <a:srgbClr val="7DA85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100%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143232" y="7578362"/>
            <a:ext cx="1865376" cy="6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7"/>
              </a:lnSpc>
            </a:pPr>
            <a:r>
              <a:rPr lang="en-US" sz="2223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Households own a smartphone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142574" y="4711687"/>
            <a:ext cx="448450" cy="3651284"/>
          </a:xfrm>
          <a:custGeom>
            <a:avLst/>
            <a:gdLst/>
            <a:ahLst/>
            <a:cxnLst/>
            <a:rect l="l" t="t" r="r" b="b"/>
            <a:pathLst>
              <a:path w="448450" h="3651284">
                <a:moveTo>
                  <a:pt x="0" y="0"/>
                </a:moveTo>
                <a:lnTo>
                  <a:pt x="448450" y="0"/>
                </a:lnTo>
                <a:lnTo>
                  <a:pt x="44845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017598" y="4711687"/>
            <a:ext cx="1312536" cy="1934962"/>
          </a:xfrm>
          <a:custGeom>
            <a:avLst/>
            <a:gdLst/>
            <a:ahLst/>
            <a:cxnLst/>
            <a:rect l="l" t="t" r="r" b="b"/>
            <a:pathLst>
              <a:path w="1312536" h="1934962">
                <a:moveTo>
                  <a:pt x="0" y="0"/>
                </a:moveTo>
                <a:lnTo>
                  <a:pt x="1312536" y="0"/>
                </a:lnTo>
                <a:lnTo>
                  <a:pt x="1312536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5288768" y="6790645"/>
            <a:ext cx="914400" cy="771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30"/>
              </a:lnSpc>
            </a:pPr>
            <a:r>
              <a:rPr lang="en-US" sz="5730" b="1">
                <a:solidFill>
                  <a:srgbClr val="7DA85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21840" y="7629152"/>
            <a:ext cx="2157984" cy="68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Internet or cellular tower coverage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5330" y="8997026"/>
            <a:ext cx="16997340" cy="218640"/>
          </a:xfrm>
          <a:custGeom>
            <a:avLst/>
            <a:gdLst/>
            <a:ahLst/>
            <a:cxnLst/>
            <a:rect l="l" t="t" r="r" b="b"/>
            <a:pathLst>
              <a:path w="16997340" h="218640">
                <a:moveTo>
                  <a:pt x="0" y="0"/>
                </a:moveTo>
                <a:lnTo>
                  <a:pt x="16997340" y="0"/>
                </a:lnTo>
                <a:lnTo>
                  <a:pt x="1699734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749808" y="9322992"/>
            <a:ext cx="14026896" cy="457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949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Predominantly </a:t>
            </a:r>
            <a:r>
              <a:rPr lang="en-US" sz="2949" b="1">
                <a:solidFill>
                  <a:srgbClr val="7DA85B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Adivasi (tribal) </a:t>
            </a:r>
            <a:r>
              <a:rPr lang="en-US" sz="2949" b="1">
                <a:solidFill>
                  <a:srgbClr val="13355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community with limited connectivity and constrained incomes.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472156"/>
            <a:ext cx="13167360" cy="124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6"/>
              </a:lnSpc>
            </a:pPr>
            <a:r>
              <a:rPr lang="en-US" sz="7282" b="1">
                <a:solidFill>
                  <a:srgbClr val="1A325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Infrastructure &amp; Governance Deficit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350377"/>
            <a:ext cx="4145426" cy="7302567"/>
          </a:xfrm>
          <a:custGeom>
            <a:avLst/>
            <a:gdLst/>
            <a:ahLst/>
            <a:cxnLst/>
            <a:rect l="l" t="t" r="r" b="b"/>
            <a:pathLst>
              <a:path w="4145426" h="7302567">
                <a:moveTo>
                  <a:pt x="0" y="0"/>
                </a:moveTo>
                <a:lnTo>
                  <a:pt x="4145426" y="0"/>
                </a:lnTo>
                <a:lnTo>
                  <a:pt x="4145426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957866" y="2776725"/>
            <a:ext cx="1750048" cy="1727254"/>
          </a:xfrm>
          <a:custGeom>
            <a:avLst/>
            <a:gdLst/>
            <a:ahLst/>
            <a:cxnLst/>
            <a:rect l="l" t="t" r="r" b="b"/>
            <a:pathLst>
              <a:path w="1750048" h="1727254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94560" y="4037814"/>
            <a:ext cx="1207008" cy="29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8"/>
              </a:lnSpc>
            </a:pPr>
            <a:r>
              <a:rPr lang="en-US" sz="17020" b="1">
                <a:solidFill>
                  <a:srgbClr val="6A9D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6464" y="6741921"/>
            <a:ext cx="2670048" cy="553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2"/>
              </a:lnSpc>
            </a:pPr>
            <a:r>
              <a:rPr lang="en-US" sz="315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Healthcare VOID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" y="7521565"/>
            <a:ext cx="3328416" cy="171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hospitals for humans or animals; complete reliance on outside private doctors.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79818" y="2350377"/>
            <a:ext cx="4364182" cy="7302567"/>
          </a:xfrm>
          <a:custGeom>
            <a:avLst/>
            <a:gdLst/>
            <a:ahLst/>
            <a:cxnLst/>
            <a:rect l="l" t="t" r="r" b="b"/>
            <a:pathLst>
              <a:path w="4364182" h="7302567">
                <a:moveTo>
                  <a:pt x="0" y="0"/>
                </a:moveTo>
                <a:lnTo>
                  <a:pt x="4364182" y="0"/>
                </a:lnTo>
                <a:lnTo>
                  <a:pt x="4364182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311110" y="2776725"/>
            <a:ext cx="1312536" cy="1727254"/>
          </a:xfrm>
          <a:custGeom>
            <a:avLst/>
            <a:gdLst/>
            <a:ahLst/>
            <a:cxnLst/>
            <a:rect l="l" t="t" r="r" b="b"/>
            <a:pathLst>
              <a:path w="1312536" h="1727254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6364224" y="4037814"/>
            <a:ext cx="1207008" cy="29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8"/>
              </a:lnSpc>
            </a:pPr>
            <a:r>
              <a:rPr lang="en-US" sz="17020" b="1">
                <a:solidFill>
                  <a:srgbClr val="6A9D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76672" y="6727955"/>
            <a:ext cx="3163824" cy="57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Connectivity Crisis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76672" y="7928268"/>
            <a:ext cx="3163824" cy="511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1"/>
              </a:lnSpc>
            </a:pPr>
            <a:r>
              <a:rPr lang="en-US" sz="1625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 cellular network; Gram Panchayat BBNL Wi-Fi is non-functional.</a:t>
            </a:r>
          </a:p>
        </p:txBody>
      </p:sp>
      <p:sp>
        <p:nvSpPr>
          <p:cNvPr id="15" name="Freeform 15"/>
          <p:cNvSpPr/>
          <p:nvPr/>
        </p:nvSpPr>
        <p:spPr>
          <a:xfrm>
            <a:off x="8925244" y="2350377"/>
            <a:ext cx="4364182" cy="7302567"/>
          </a:xfrm>
          <a:custGeom>
            <a:avLst/>
            <a:gdLst/>
            <a:ahLst/>
            <a:cxnLst/>
            <a:rect l="l" t="t" r="r" b="b"/>
            <a:pathLst>
              <a:path w="4364182" h="7302567">
                <a:moveTo>
                  <a:pt x="0" y="0"/>
                </a:moveTo>
                <a:lnTo>
                  <a:pt x="4364182" y="0"/>
                </a:lnTo>
                <a:lnTo>
                  <a:pt x="4364182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445598" y="2776725"/>
            <a:ext cx="1312536" cy="1727254"/>
          </a:xfrm>
          <a:custGeom>
            <a:avLst/>
            <a:gdLst/>
            <a:ahLst/>
            <a:cxnLst/>
            <a:rect l="l" t="t" r="r" b="b"/>
            <a:pathLst>
              <a:path w="1312536" h="1727254">
                <a:moveTo>
                  <a:pt x="0" y="0"/>
                </a:moveTo>
                <a:lnTo>
                  <a:pt x="1312536" y="0"/>
                </a:lnTo>
                <a:lnTo>
                  <a:pt x="131253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473184" y="6727955"/>
            <a:ext cx="3401568" cy="57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Scheme Penetration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09760" y="7534142"/>
            <a:ext cx="3328416" cy="129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 penetration across all government sectors (water, crops, seeds).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278488" y="2350377"/>
            <a:ext cx="4364182" cy="7302567"/>
          </a:xfrm>
          <a:custGeom>
            <a:avLst/>
            <a:gdLst/>
            <a:ahLst/>
            <a:cxnLst/>
            <a:rect l="l" t="t" r="r" b="b"/>
            <a:pathLst>
              <a:path w="4364182" h="7302567">
                <a:moveTo>
                  <a:pt x="0" y="0"/>
                </a:moveTo>
                <a:lnTo>
                  <a:pt x="4364182" y="0"/>
                </a:lnTo>
                <a:lnTo>
                  <a:pt x="4364182" y="7302568"/>
                </a:lnTo>
                <a:lnTo>
                  <a:pt x="0" y="7302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580086" y="2776725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4886432" y="4037814"/>
            <a:ext cx="1207008" cy="29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8"/>
              </a:lnSpc>
            </a:pPr>
            <a:r>
              <a:rPr lang="en-US" sz="17020" b="1">
                <a:solidFill>
                  <a:srgbClr val="6A9D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73200" y="6727955"/>
            <a:ext cx="2615184" cy="572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5"/>
              </a:lnSpc>
            </a:pPr>
            <a:r>
              <a:rPr lang="en-US" sz="323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Awareness Gap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07440" y="7521565"/>
            <a:ext cx="3401568" cy="171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</a:pPr>
            <a:r>
              <a:rPr lang="en-US" sz="27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Subsidies exist on paper, but villagers have absolute zero awareness of how to access them.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021824" y="4037814"/>
            <a:ext cx="1207008" cy="2928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28"/>
              </a:lnSpc>
            </a:pPr>
            <a:r>
              <a:rPr lang="en-US" sz="17020" b="1">
                <a:solidFill>
                  <a:srgbClr val="6A9D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92256" y="4834730"/>
            <a:ext cx="1133856" cy="1848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136"/>
              </a:lnSpc>
            </a:pPr>
            <a:r>
              <a:rPr lang="en-US" sz="10811" b="1">
                <a:solidFill>
                  <a:srgbClr val="6A9D75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3232" y="709599"/>
            <a:ext cx="6858000" cy="98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66"/>
              </a:lnSpc>
            </a:pPr>
            <a:r>
              <a:rPr lang="en-US" sz="7466" spc="-1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Agricultural Profile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142670"/>
            <a:ext cx="16997340" cy="863627"/>
          </a:xfrm>
          <a:custGeom>
            <a:avLst/>
            <a:gdLst/>
            <a:ahLst/>
            <a:cxnLst/>
            <a:rect l="l" t="t" r="r" b="b"/>
            <a:pathLst>
              <a:path w="16997340" h="863627">
                <a:moveTo>
                  <a:pt x="0" y="0"/>
                </a:moveTo>
                <a:lnTo>
                  <a:pt x="16997340" y="0"/>
                </a:lnTo>
                <a:lnTo>
                  <a:pt x="1699734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70064" y="2398568"/>
            <a:ext cx="3547872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MAJOR CROPS CULTIVATED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2776725"/>
            <a:ext cx="3718852" cy="2590881"/>
          </a:xfrm>
          <a:custGeom>
            <a:avLst/>
            <a:gdLst/>
            <a:ahLst/>
            <a:cxnLst/>
            <a:rect l="l" t="t" r="r" b="b"/>
            <a:pathLst>
              <a:path w="3718852" h="2590881">
                <a:moveTo>
                  <a:pt x="0" y="0"/>
                </a:moveTo>
                <a:lnTo>
                  <a:pt x="3718852" y="0"/>
                </a:lnTo>
                <a:lnTo>
                  <a:pt x="3718852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2842" y="2995365"/>
            <a:ext cx="2843828" cy="1727254"/>
          </a:xfrm>
          <a:custGeom>
            <a:avLst/>
            <a:gdLst/>
            <a:ahLst/>
            <a:cxnLst/>
            <a:rect l="l" t="t" r="r" b="b"/>
            <a:pathLst>
              <a:path w="2843828" h="1727254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48256" y="4814400"/>
            <a:ext cx="822960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Wheat</a:t>
            </a:r>
          </a:p>
        </p:txBody>
      </p:sp>
      <p:sp>
        <p:nvSpPr>
          <p:cNvPr id="10" name="Freeform 10"/>
          <p:cNvSpPr/>
          <p:nvPr/>
        </p:nvSpPr>
        <p:spPr>
          <a:xfrm>
            <a:off x="4134488" y="2776725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779818" y="3214004"/>
            <a:ext cx="2406316" cy="1508614"/>
          </a:xfrm>
          <a:custGeom>
            <a:avLst/>
            <a:gdLst/>
            <a:ahLst/>
            <a:cxnLst/>
            <a:rect l="l" t="t" r="r" b="b"/>
            <a:pathLst>
              <a:path w="2406316" h="1508614">
                <a:moveTo>
                  <a:pt x="0" y="0"/>
                </a:moveTo>
                <a:lnTo>
                  <a:pt x="2406316" y="0"/>
                </a:lnTo>
                <a:lnTo>
                  <a:pt x="240631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68112" y="4814400"/>
            <a:ext cx="877824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Cotton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7393952" y="2776725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050220" y="2995365"/>
            <a:ext cx="2406316" cy="1727254"/>
          </a:xfrm>
          <a:custGeom>
            <a:avLst/>
            <a:gdLst/>
            <a:ahLst/>
            <a:cxnLst/>
            <a:rect l="l" t="t" r="r" b="b"/>
            <a:pathLst>
              <a:path w="2406316" h="1727254">
                <a:moveTo>
                  <a:pt x="0" y="0"/>
                </a:moveTo>
                <a:lnTo>
                  <a:pt x="2406316" y="0"/>
                </a:lnTo>
                <a:lnTo>
                  <a:pt x="240631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741664" y="4814400"/>
            <a:ext cx="914400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 Dal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664354" y="2776725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320622" y="2995365"/>
            <a:ext cx="2395378" cy="1727254"/>
          </a:xfrm>
          <a:custGeom>
            <a:avLst/>
            <a:gdLst/>
            <a:ahLst/>
            <a:cxnLst/>
            <a:rect l="l" t="t" r="r" b="b"/>
            <a:pathLst>
              <a:path w="2395378" h="1727254">
                <a:moveTo>
                  <a:pt x="0" y="0"/>
                </a:moveTo>
                <a:lnTo>
                  <a:pt x="2395378" y="0"/>
                </a:lnTo>
                <a:lnTo>
                  <a:pt x="239537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106656" y="4814400"/>
            <a:ext cx="822960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Chana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142574" y="2776725"/>
            <a:ext cx="229694" cy="2590881"/>
          </a:xfrm>
          <a:custGeom>
            <a:avLst/>
            <a:gdLst/>
            <a:ahLst/>
            <a:cxnLst/>
            <a:rect l="l" t="t" r="r" b="b"/>
            <a:pathLst>
              <a:path w="229694" h="2590881">
                <a:moveTo>
                  <a:pt x="0" y="0"/>
                </a:moveTo>
                <a:lnTo>
                  <a:pt x="229694" y="0"/>
                </a:lnTo>
                <a:lnTo>
                  <a:pt x="229694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361330" y="2995365"/>
            <a:ext cx="2843828" cy="1727254"/>
          </a:xfrm>
          <a:custGeom>
            <a:avLst/>
            <a:gdLst/>
            <a:ahLst/>
            <a:cxnLst/>
            <a:rect l="l" t="t" r="r" b="b"/>
            <a:pathLst>
              <a:path w="2843828" h="1727254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5435072" y="4814400"/>
            <a:ext cx="877824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Jawari</a:t>
            </a:r>
          </a:p>
        </p:txBody>
      </p:sp>
      <p:sp>
        <p:nvSpPr>
          <p:cNvPr id="22" name="Freeform 22"/>
          <p:cNvSpPr/>
          <p:nvPr/>
        </p:nvSpPr>
        <p:spPr>
          <a:xfrm>
            <a:off x="645330" y="5564382"/>
            <a:ext cx="8290852" cy="655919"/>
          </a:xfrm>
          <a:custGeom>
            <a:avLst/>
            <a:gdLst/>
            <a:ahLst/>
            <a:cxnLst/>
            <a:rect l="l" t="t" r="r" b="b"/>
            <a:pathLst>
              <a:path w="8290852" h="655919">
                <a:moveTo>
                  <a:pt x="0" y="0"/>
                </a:moveTo>
                <a:lnTo>
                  <a:pt x="8290852" y="0"/>
                </a:lnTo>
                <a:lnTo>
                  <a:pt x="829085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767328" y="5690408"/>
            <a:ext cx="2011680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SOIL DIVERSITY</a:t>
            </a:r>
          </a:p>
        </p:txBody>
      </p:sp>
      <p:sp>
        <p:nvSpPr>
          <p:cNvPr id="24" name="Freeform 24"/>
          <p:cNvSpPr/>
          <p:nvPr/>
        </p:nvSpPr>
        <p:spPr>
          <a:xfrm>
            <a:off x="645330" y="5990729"/>
            <a:ext cx="1750048" cy="2798589"/>
          </a:xfrm>
          <a:custGeom>
            <a:avLst/>
            <a:gdLst/>
            <a:ahLst/>
            <a:cxnLst/>
            <a:rect l="l" t="t" r="r" b="b"/>
            <a:pathLst>
              <a:path w="1750048" h="2798589">
                <a:moveTo>
                  <a:pt x="0" y="0"/>
                </a:moveTo>
                <a:lnTo>
                  <a:pt x="1750048" y="0"/>
                </a:lnTo>
                <a:lnTo>
                  <a:pt x="175004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45330" y="8570678"/>
            <a:ext cx="1750048" cy="644987"/>
          </a:xfrm>
          <a:custGeom>
            <a:avLst/>
            <a:gdLst/>
            <a:ahLst/>
            <a:cxnLst/>
            <a:rect l="l" t="t" r="r" b="b"/>
            <a:pathLst>
              <a:path w="1750048" h="644987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176622" y="5990729"/>
            <a:ext cx="1750048" cy="2798589"/>
          </a:xfrm>
          <a:custGeom>
            <a:avLst/>
            <a:gdLst/>
            <a:ahLst/>
            <a:cxnLst/>
            <a:rect l="l" t="t" r="r" b="b"/>
            <a:pathLst>
              <a:path w="1750048" h="2798589">
                <a:moveTo>
                  <a:pt x="0" y="0"/>
                </a:moveTo>
                <a:lnTo>
                  <a:pt x="1750048" y="0"/>
                </a:lnTo>
                <a:lnTo>
                  <a:pt x="175004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2176622" y="8570678"/>
            <a:ext cx="1750048" cy="644987"/>
          </a:xfrm>
          <a:custGeom>
            <a:avLst/>
            <a:gdLst/>
            <a:ahLst/>
            <a:cxnLst/>
            <a:rect l="l" t="t" r="r" b="b"/>
            <a:pathLst>
              <a:path w="1750048" h="644987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3915732" y="5990729"/>
            <a:ext cx="1750048" cy="2798589"/>
          </a:xfrm>
          <a:custGeom>
            <a:avLst/>
            <a:gdLst/>
            <a:ahLst/>
            <a:cxnLst/>
            <a:rect l="l" t="t" r="r" b="b"/>
            <a:pathLst>
              <a:path w="1750048" h="2798589">
                <a:moveTo>
                  <a:pt x="0" y="0"/>
                </a:moveTo>
                <a:lnTo>
                  <a:pt x="1750048" y="0"/>
                </a:lnTo>
                <a:lnTo>
                  <a:pt x="175004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3915732" y="8570678"/>
            <a:ext cx="1750048" cy="644987"/>
          </a:xfrm>
          <a:custGeom>
            <a:avLst/>
            <a:gdLst/>
            <a:ahLst/>
            <a:cxnLst/>
            <a:rect l="l" t="t" r="r" b="b"/>
            <a:pathLst>
              <a:path w="1750048" h="644987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4279392" y="8704499"/>
            <a:ext cx="987552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Bhasma</a:t>
            </a:r>
          </a:p>
        </p:txBody>
      </p:sp>
      <p:sp>
        <p:nvSpPr>
          <p:cNvPr id="31" name="Freeform 31"/>
          <p:cNvSpPr/>
          <p:nvPr/>
        </p:nvSpPr>
        <p:spPr>
          <a:xfrm>
            <a:off x="5436086" y="5990729"/>
            <a:ext cx="1750048" cy="2798589"/>
          </a:xfrm>
          <a:custGeom>
            <a:avLst/>
            <a:gdLst/>
            <a:ahLst/>
            <a:cxnLst/>
            <a:rect l="l" t="t" r="r" b="b"/>
            <a:pathLst>
              <a:path w="1750048" h="2798589">
                <a:moveTo>
                  <a:pt x="0" y="0"/>
                </a:moveTo>
                <a:lnTo>
                  <a:pt x="1750048" y="0"/>
                </a:lnTo>
                <a:lnTo>
                  <a:pt x="175004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5436086" y="8570678"/>
            <a:ext cx="1750048" cy="644987"/>
          </a:xfrm>
          <a:custGeom>
            <a:avLst/>
            <a:gdLst/>
            <a:ahLst/>
            <a:cxnLst/>
            <a:rect l="l" t="t" r="r" b="b"/>
            <a:pathLst>
              <a:path w="1750048" h="644987">
                <a:moveTo>
                  <a:pt x="0" y="0"/>
                </a:moveTo>
                <a:lnTo>
                  <a:pt x="1750048" y="0"/>
                </a:lnTo>
                <a:lnTo>
                  <a:pt x="175004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6035040" y="8704499"/>
            <a:ext cx="694944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</a:p>
        </p:txBody>
      </p:sp>
      <p:sp>
        <p:nvSpPr>
          <p:cNvPr id="34" name="Freeform 34"/>
          <p:cNvSpPr/>
          <p:nvPr/>
        </p:nvSpPr>
        <p:spPr>
          <a:xfrm>
            <a:off x="6956440" y="5990729"/>
            <a:ext cx="1979742" cy="2798589"/>
          </a:xfrm>
          <a:custGeom>
            <a:avLst/>
            <a:gdLst/>
            <a:ahLst/>
            <a:cxnLst/>
            <a:rect l="l" t="t" r="r" b="b"/>
            <a:pathLst>
              <a:path w="1979742" h="2798589">
                <a:moveTo>
                  <a:pt x="0" y="0"/>
                </a:moveTo>
                <a:lnTo>
                  <a:pt x="1979742" y="0"/>
                </a:lnTo>
                <a:lnTo>
                  <a:pt x="197974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6956440" y="8570678"/>
            <a:ext cx="1979742" cy="644987"/>
          </a:xfrm>
          <a:custGeom>
            <a:avLst/>
            <a:gdLst/>
            <a:ahLst/>
            <a:cxnLst/>
            <a:rect l="l" t="t" r="r" b="b"/>
            <a:pathLst>
              <a:path w="1979742" h="644987">
                <a:moveTo>
                  <a:pt x="0" y="0"/>
                </a:moveTo>
                <a:lnTo>
                  <a:pt x="1979742" y="0"/>
                </a:lnTo>
                <a:lnTo>
                  <a:pt x="197974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749808" y="9371541"/>
            <a:ext cx="4956048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</a:pPr>
            <a:r>
              <a:rPr lang="en-US" sz="2469" spc="-49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area previously hosted a local mine.</a:t>
            </a:r>
          </a:p>
        </p:txBody>
      </p:sp>
      <p:sp>
        <p:nvSpPr>
          <p:cNvPr id="37" name="Freeform 37"/>
          <p:cNvSpPr/>
          <p:nvPr/>
        </p:nvSpPr>
        <p:spPr>
          <a:xfrm>
            <a:off x="8925244" y="5564382"/>
            <a:ext cx="8717426" cy="655919"/>
          </a:xfrm>
          <a:custGeom>
            <a:avLst/>
            <a:gdLst/>
            <a:ahLst/>
            <a:cxnLst/>
            <a:rect l="l" t="t" r="r" b="b"/>
            <a:pathLst>
              <a:path w="8717426" h="655919">
                <a:moveTo>
                  <a:pt x="0" y="0"/>
                </a:moveTo>
                <a:lnTo>
                  <a:pt x="8717426" y="0"/>
                </a:lnTo>
                <a:lnTo>
                  <a:pt x="871742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1411712" y="5690408"/>
            <a:ext cx="3767328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ADVISORY RELIANCE AND RISK</a:t>
            </a:r>
          </a:p>
        </p:txBody>
      </p:sp>
      <p:sp>
        <p:nvSpPr>
          <p:cNvPr id="39" name="Freeform 39"/>
          <p:cNvSpPr/>
          <p:nvPr/>
        </p:nvSpPr>
        <p:spPr>
          <a:xfrm>
            <a:off x="9144000" y="6209369"/>
            <a:ext cx="2395378" cy="2579949"/>
          </a:xfrm>
          <a:custGeom>
            <a:avLst/>
            <a:gdLst/>
            <a:ahLst/>
            <a:cxnLst/>
            <a:rect l="l" t="t" r="r" b="b"/>
            <a:pathLst>
              <a:path w="2395378" h="2579949">
                <a:moveTo>
                  <a:pt x="0" y="0"/>
                </a:moveTo>
                <a:lnTo>
                  <a:pt x="2395378" y="0"/>
                </a:lnTo>
                <a:lnTo>
                  <a:pt x="239537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9789330" y="6428009"/>
            <a:ext cx="1104718" cy="1289974"/>
          </a:xfrm>
          <a:custGeom>
            <a:avLst/>
            <a:gdLst/>
            <a:ahLst/>
            <a:cxnLst/>
            <a:rect l="l" t="t" r="r" b="b"/>
            <a:pathLst>
              <a:path w="1104718" h="1289974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9710928" y="7814318"/>
            <a:ext cx="1335024" cy="68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spc="45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 formal knowledge</a:t>
            </a:r>
          </a:p>
        </p:txBody>
      </p:sp>
      <p:sp>
        <p:nvSpPr>
          <p:cNvPr id="42" name="Freeform 42"/>
          <p:cNvSpPr/>
          <p:nvPr/>
        </p:nvSpPr>
        <p:spPr>
          <a:xfrm>
            <a:off x="11320622" y="7062064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11965952" y="6209369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622220" y="6635716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2326112" y="7814318"/>
            <a:ext cx="1847088" cy="68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spc="45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vendor informal advice</a:t>
            </a:r>
          </a:p>
        </p:txBody>
      </p:sp>
      <p:sp>
        <p:nvSpPr>
          <p:cNvPr id="46" name="Freeform 46"/>
          <p:cNvSpPr/>
          <p:nvPr/>
        </p:nvSpPr>
        <p:spPr>
          <a:xfrm>
            <a:off x="14361330" y="7062064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017598" y="6209369"/>
            <a:ext cx="2406316" cy="2579949"/>
          </a:xfrm>
          <a:custGeom>
            <a:avLst/>
            <a:gdLst/>
            <a:ahLst/>
            <a:cxnLst/>
            <a:rect l="l" t="t" r="r" b="b"/>
            <a:pathLst>
              <a:path w="2406316" h="2579949">
                <a:moveTo>
                  <a:pt x="0" y="0"/>
                </a:moveTo>
                <a:lnTo>
                  <a:pt x="2406316" y="0"/>
                </a:lnTo>
                <a:lnTo>
                  <a:pt x="240631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188720" y="8704499"/>
            <a:ext cx="676656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07792" y="8704499"/>
            <a:ext cx="475488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626096" y="8704499"/>
            <a:ext cx="822960" cy="326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142" spc="42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5636240" y="7814318"/>
            <a:ext cx="1097280" cy="687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2274" spc="45">
                <a:solidFill>
                  <a:srgbClr val="E6E6E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Potential risk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272016" y="9021750"/>
            <a:ext cx="7168896" cy="73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412" spc="-48">
                <a:solidFill>
                  <a:srgbClr val="1836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 awareness on optimal seeds and modern fertilizers. Farmers depend entirely on unverified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332964"/>
            <a:ext cx="6236208" cy="1331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28"/>
              </a:lnSpc>
            </a:pPr>
            <a:r>
              <a:rPr lang="en-US" sz="7806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Ecological Shift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3232" y="1964816"/>
            <a:ext cx="11923776" cy="478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</a:pPr>
            <a:r>
              <a:rPr lang="en-US" sz="2723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Crop diversity has concentrated pest pressure and magnified losses on a few farms.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350377"/>
            <a:ext cx="8498670" cy="874559"/>
          </a:xfrm>
          <a:custGeom>
            <a:avLst/>
            <a:gdLst/>
            <a:ahLst/>
            <a:cxnLst/>
            <a:rect l="l" t="t" r="r" b="b"/>
            <a:pathLst>
              <a:path w="8498670" h="874559">
                <a:moveTo>
                  <a:pt x="0" y="0"/>
                </a:moveTo>
                <a:lnTo>
                  <a:pt x="8498670" y="0"/>
                </a:lnTo>
                <a:lnTo>
                  <a:pt x="849867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33088" y="2536425"/>
            <a:ext cx="1408176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BEFORE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2995365"/>
            <a:ext cx="8498670" cy="4514911"/>
          </a:xfrm>
          <a:custGeom>
            <a:avLst/>
            <a:gdLst/>
            <a:ahLst/>
            <a:cxnLst/>
            <a:rect l="l" t="t" r="r" b="b"/>
            <a:pathLst>
              <a:path w="8498670" h="4514911">
                <a:moveTo>
                  <a:pt x="0" y="0"/>
                </a:moveTo>
                <a:lnTo>
                  <a:pt x="8498670" y="0"/>
                </a:lnTo>
                <a:lnTo>
                  <a:pt x="849867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45330" y="7280704"/>
            <a:ext cx="8498670" cy="1082267"/>
          </a:xfrm>
          <a:custGeom>
            <a:avLst/>
            <a:gdLst/>
            <a:ahLst/>
            <a:cxnLst/>
            <a:rect l="l" t="t" r="r" b="b"/>
            <a:pathLst>
              <a:path w="8498670" h="1082267">
                <a:moveTo>
                  <a:pt x="0" y="0"/>
                </a:moveTo>
                <a:lnTo>
                  <a:pt x="8498670" y="0"/>
                </a:lnTo>
                <a:lnTo>
                  <a:pt x="849867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03120" y="7469408"/>
            <a:ext cx="5394960" cy="613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4"/>
              </a:lnSpc>
            </a:pPr>
            <a:r>
              <a:rPr lang="en-US" sz="22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 farms grew the same crop.</a:t>
            </a:r>
          </a:p>
          <a:p>
            <a:pPr algn="ctr">
              <a:lnSpc>
                <a:spcPts val="2334"/>
              </a:lnSpc>
            </a:pPr>
            <a:r>
              <a:rPr lang="en-US" sz="2223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Bird and wildlife damage was evenly distributed.</a:t>
            </a:r>
          </a:p>
        </p:txBody>
      </p:sp>
      <p:sp>
        <p:nvSpPr>
          <p:cNvPr id="11" name="Freeform 11"/>
          <p:cNvSpPr/>
          <p:nvPr/>
        </p:nvSpPr>
        <p:spPr>
          <a:xfrm>
            <a:off x="9144000" y="2350377"/>
            <a:ext cx="8498670" cy="874559"/>
          </a:xfrm>
          <a:custGeom>
            <a:avLst/>
            <a:gdLst/>
            <a:ahLst/>
            <a:cxnLst/>
            <a:rect l="l" t="t" r="r" b="b"/>
            <a:pathLst>
              <a:path w="8498670" h="874559">
                <a:moveTo>
                  <a:pt x="0" y="0"/>
                </a:moveTo>
                <a:lnTo>
                  <a:pt x="8498670" y="0"/>
                </a:lnTo>
                <a:lnTo>
                  <a:pt x="8498670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893040" y="2536425"/>
            <a:ext cx="877824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NOW</a:t>
            </a:r>
          </a:p>
        </p:txBody>
      </p:sp>
      <p:sp>
        <p:nvSpPr>
          <p:cNvPr id="13" name="Freeform 13"/>
          <p:cNvSpPr/>
          <p:nvPr/>
        </p:nvSpPr>
        <p:spPr>
          <a:xfrm>
            <a:off x="9144000" y="2995365"/>
            <a:ext cx="8498670" cy="4514911"/>
          </a:xfrm>
          <a:custGeom>
            <a:avLst/>
            <a:gdLst/>
            <a:ahLst/>
            <a:cxnLst/>
            <a:rect l="l" t="t" r="r" b="b"/>
            <a:pathLst>
              <a:path w="8498670" h="4514911">
                <a:moveTo>
                  <a:pt x="0" y="0"/>
                </a:moveTo>
                <a:lnTo>
                  <a:pt x="8498670" y="0"/>
                </a:lnTo>
                <a:lnTo>
                  <a:pt x="8498670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144000" y="7280704"/>
            <a:ext cx="8498670" cy="1082267"/>
          </a:xfrm>
          <a:custGeom>
            <a:avLst/>
            <a:gdLst/>
            <a:ahLst/>
            <a:cxnLst/>
            <a:rect l="l" t="t" r="r" b="b"/>
            <a:pathLst>
              <a:path w="8498670" h="1082267">
                <a:moveTo>
                  <a:pt x="0" y="0"/>
                </a:moveTo>
                <a:lnTo>
                  <a:pt x="8498670" y="0"/>
                </a:lnTo>
                <a:lnTo>
                  <a:pt x="849867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094976" y="7480583"/>
            <a:ext cx="6547104" cy="591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7"/>
              </a:lnSpc>
            </a:pPr>
            <a:r>
              <a:rPr lang="en-US" sz="21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Diverse crops in the same season.</a:t>
            </a:r>
          </a:p>
          <a:p>
            <a:pPr algn="ctr">
              <a:lnSpc>
                <a:spcPts val="2307"/>
              </a:lnSpc>
            </a:pPr>
            <a:r>
              <a:rPr lang="en-US" sz="2197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Pests target preferred crops, causing severe localised loss.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56816" y="8634309"/>
            <a:ext cx="2029968" cy="1213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Declining</a:t>
            </a:r>
          </a:p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soil fertility</a:t>
            </a:r>
          </a:p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+</a:t>
            </a:r>
          </a:p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labor shortages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4572000" y="8997026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126480" y="8909923"/>
            <a:ext cx="1828800" cy="62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2"/>
              </a:lnSpc>
            </a:pPr>
            <a:r>
              <a:rPr lang="en-US" sz="2465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Crop</a:t>
            </a:r>
          </a:p>
          <a:p>
            <a:pPr algn="ctr">
              <a:lnSpc>
                <a:spcPts val="2342"/>
              </a:lnSpc>
            </a:pPr>
            <a:r>
              <a:rPr lang="en-US" sz="2465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diversification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8706488" y="8997026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22992" y="8909923"/>
            <a:ext cx="1755648" cy="620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2"/>
              </a:lnSpc>
            </a:pPr>
            <a:r>
              <a:rPr lang="en-US" sz="2465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Pest</a:t>
            </a:r>
          </a:p>
          <a:p>
            <a:pPr algn="ctr">
              <a:lnSpc>
                <a:spcPts val="2342"/>
              </a:lnSpc>
            </a:pPr>
            <a:r>
              <a:rPr lang="en-US" sz="2465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concentration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622220" y="8997026"/>
            <a:ext cx="1093780" cy="437279"/>
          </a:xfrm>
          <a:custGeom>
            <a:avLst/>
            <a:gdLst/>
            <a:ahLst/>
            <a:cxnLst/>
            <a:rect l="l" t="t" r="r" b="b"/>
            <a:pathLst>
              <a:path w="1093780" h="437279">
                <a:moveTo>
                  <a:pt x="0" y="0"/>
                </a:moveTo>
                <a:lnTo>
                  <a:pt x="1093780" y="0"/>
                </a:lnTo>
                <a:lnTo>
                  <a:pt x="109378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081760" y="8908898"/>
            <a:ext cx="2121408" cy="622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Localized</a:t>
            </a:r>
          </a:p>
          <a:p>
            <a:pPr algn="ctr">
              <a:lnSpc>
                <a:spcPts val="2403"/>
              </a:lnSpc>
            </a:pPr>
            <a:r>
              <a:rPr lang="en-US" sz="2529" b="1">
                <a:solidFill>
                  <a:srgbClr val="1836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devastating loss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4944" y="413920"/>
            <a:ext cx="12472416" cy="111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67"/>
              </a:lnSpc>
            </a:pPr>
            <a:r>
              <a:rPr lang="en-US" sz="6476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Market Dynamics &amp; Agricultural Risks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94944" y="2411042"/>
            <a:ext cx="4096512" cy="553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147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market dependency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4944" y="3028914"/>
            <a:ext cx="5157216" cy="858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Crops and daily milk (60-70 liters) are sold exclusively in local markets.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4944" y="4251308"/>
            <a:ext cx="4279392" cy="524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Transport barrier to growth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4944" y="4860548"/>
            <a:ext cx="4608576" cy="827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376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Farmers avoid Nagpur mandis due to high transport costs that erase profits.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944" y="6061324"/>
            <a:ext cx="4279392" cy="525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2"/>
              </a:lnSpc>
            </a:pPr>
            <a:r>
              <a:rPr lang="en-US" sz="3030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Seasonal fodder economics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944" y="8164843"/>
            <a:ext cx="3950208" cy="515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8"/>
              </a:lnSpc>
            </a:pPr>
            <a:r>
              <a:rPr lang="en-US" sz="2991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 vulnerability to risks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4944" y="8758773"/>
            <a:ext cx="4736592" cy="858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2"/>
              </a:lnSpc>
            </a:pPr>
            <a:r>
              <a:rPr lang="en-US" sz="2494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Erratic rainfall and wildlife damage can devastate crops and plantations.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6311110" y="2142670"/>
            <a:ext cx="11331560" cy="4077631"/>
          </a:xfrm>
          <a:custGeom>
            <a:avLst/>
            <a:gdLst/>
            <a:ahLst/>
            <a:cxnLst/>
            <a:rect l="l" t="t" r="r" b="b"/>
            <a:pathLst>
              <a:path w="11331560" h="4077631">
                <a:moveTo>
                  <a:pt x="0" y="0"/>
                </a:moveTo>
                <a:lnTo>
                  <a:pt x="11331560" y="0"/>
                </a:lnTo>
                <a:lnTo>
                  <a:pt x="1133156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956440" y="2776725"/>
            <a:ext cx="667206" cy="1300906"/>
          </a:xfrm>
          <a:custGeom>
            <a:avLst/>
            <a:gdLst/>
            <a:ahLst/>
            <a:cxnLst/>
            <a:rect l="l" t="t" r="r" b="b"/>
            <a:pathLst>
              <a:path w="667206" h="1300906">
                <a:moveTo>
                  <a:pt x="0" y="0"/>
                </a:moveTo>
                <a:lnTo>
                  <a:pt x="667206" y="0"/>
                </a:lnTo>
                <a:lnTo>
                  <a:pt x="66720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808976" y="3141642"/>
            <a:ext cx="1133856" cy="7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2723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Crops &amp; Milk</a:t>
            </a:r>
          </a:p>
        </p:txBody>
      </p:sp>
      <p:sp>
        <p:nvSpPr>
          <p:cNvPr id="15" name="Freeform 15"/>
          <p:cNvSpPr/>
          <p:nvPr/>
        </p:nvSpPr>
        <p:spPr>
          <a:xfrm>
            <a:off x="6956440" y="4066699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7845552" y="4363674"/>
            <a:ext cx="1207008" cy="6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2215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60-70</a:t>
            </a:r>
          </a:p>
          <a:p>
            <a:pPr algn="ctr">
              <a:lnSpc>
                <a:spcPts val="2658"/>
              </a:lnSpc>
            </a:pPr>
            <a:r>
              <a:rPr lang="en-US" sz="2215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liters daily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26842" y="2776725"/>
            <a:ext cx="1750048" cy="1519546"/>
          </a:xfrm>
          <a:custGeom>
            <a:avLst/>
            <a:gdLst/>
            <a:ahLst/>
            <a:cxnLst/>
            <a:rect l="l" t="t" r="r" b="b"/>
            <a:pathLst>
              <a:path w="1750048" h="1519546">
                <a:moveTo>
                  <a:pt x="0" y="0"/>
                </a:moveTo>
                <a:lnTo>
                  <a:pt x="1750048" y="0"/>
                </a:lnTo>
                <a:lnTo>
                  <a:pt x="1750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552176" y="4509813"/>
            <a:ext cx="1133856" cy="7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2723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Local Markets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1965952" y="3214004"/>
            <a:ext cx="2625072" cy="1082267"/>
          </a:xfrm>
          <a:custGeom>
            <a:avLst/>
            <a:gdLst/>
            <a:ahLst/>
            <a:cxnLst/>
            <a:rect l="l" t="t" r="r" b="b"/>
            <a:pathLst>
              <a:path w="2625072" h="1082267">
                <a:moveTo>
                  <a:pt x="0" y="0"/>
                </a:moveTo>
                <a:lnTo>
                  <a:pt x="2625072" y="0"/>
                </a:lnTo>
                <a:lnTo>
                  <a:pt x="2625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2655296" y="4544749"/>
            <a:ext cx="1682496" cy="97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2274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 transport costs negate profits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580086" y="2776725"/>
            <a:ext cx="2406316" cy="1519546"/>
          </a:xfrm>
          <a:custGeom>
            <a:avLst/>
            <a:gdLst/>
            <a:ahLst/>
            <a:cxnLst/>
            <a:rect l="l" t="t" r="r" b="b"/>
            <a:pathLst>
              <a:path w="2406316" h="1519546">
                <a:moveTo>
                  <a:pt x="0" y="0"/>
                </a:moveTo>
                <a:lnTo>
                  <a:pt x="2406316" y="0"/>
                </a:lnTo>
                <a:lnTo>
                  <a:pt x="240631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5325344" y="4509813"/>
            <a:ext cx="1060704" cy="708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3"/>
              </a:lnSpc>
            </a:pPr>
            <a:r>
              <a:rPr lang="en-US" sz="2723" b="1">
                <a:solidFill>
                  <a:srgbClr val="C9E4B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Nagpur Mandis</a:t>
            </a:r>
          </a:p>
        </p:txBody>
      </p:sp>
      <p:sp>
        <p:nvSpPr>
          <p:cNvPr id="23" name="Freeform 23"/>
          <p:cNvSpPr/>
          <p:nvPr/>
        </p:nvSpPr>
        <p:spPr>
          <a:xfrm>
            <a:off x="6311110" y="6428009"/>
            <a:ext cx="5665780" cy="3651284"/>
          </a:xfrm>
          <a:custGeom>
            <a:avLst/>
            <a:gdLst/>
            <a:ahLst/>
            <a:cxnLst/>
            <a:rect l="l" t="t" r="r" b="b"/>
            <a:pathLst>
              <a:path w="5665780" h="3651284">
                <a:moveTo>
                  <a:pt x="0" y="0"/>
                </a:moveTo>
                <a:lnTo>
                  <a:pt x="5665780" y="0"/>
                </a:lnTo>
                <a:lnTo>
                  <a:pt x="5665780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717536" y="6712761"/>
            <a:ext cx="2743200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Seasonal fodder impact</a:t>
            </a:r>
          </a:p>
        </p:txBody>
      </p:sp>
      <p:sp>
        <p:nvSpPr>
          <p:cNvPr id="25" name="Freeform 25"/>
          <p:cNvSpPr/>
          <p:nvPr/>
        </p:nvSpPr>
        <p:spPr>
          <a:xfrm>
            <a:off x="6748622" y="7280704"/>
            <a:ext cx="2395378" cy="2372241"/>
          </a:xfrm>
          <a:custGeom>
            <a:avLst/>
            <a:gdLst/>
            <a:ahLst/>
            <a:cxnLst/>
            <a:rect l="l" t="t" r="r" b="b"/>
            <a:pathLst>
              <a:path w="2395378" h="2372241">
                <a:moveTo>
                  <a:pt x="0" y="0"/>
                </a:moveTo>
                <a:lnTo>
                  <a:pt x="2395378" y="0"/>
                </a:lnTo>
                <a:lnTo>
                  <a:pt x="239537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8925244" y="7280704"/>
            <a:ext cx="2614134" cy="2372241"/>
          </a:xfrm>
          <a:custGeom>
            <a:avLst/>
            <a:gdLst/>
            <a:ahLst/>
            <a:cxnLst/>
            <a:rect l="l" t="t" r="r" b="b"/>
            <a:pathLst>
              <a:path w="2614134" h="2372241">
                <a:moveTo>
                  <a:pt x="0" y="0"/>
                </a:moveTo>
                <a:lnTo>
                  <a:pt x="2614134" y="0"/>
                </a:lnTo>
                <a:lnTo>
                  <a:pt x="261413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8706488" y="8133399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1965952" y="6428009"/>
            <a:ext cx="5676718" cy="3651284"/>
          </a:xfrm>
          <a:custGeom>
            <a:avLst/>
            <a:gdLst/>
            <a:ahLst/>
            <a:cxnLst/>
            <a:rect l="l" t="t" r="r" b="b"/>
            <a:pathLst>
              <a:path w="5676718" h="3651284">
                <a:moveTo>
                  <a:pt x="0" y="0"/>
                </a:moveTo>
                <a:lnTo>
                  <a:pt x="5676718" y="0"/>
                </a:lnTo>
                <a:lnTo>
                  <a:pt x="5676718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3423392" y="6702911"/>
            <a:ext cx="2450592" cy="393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sz="2248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Key agricultural risks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622220" y="7280704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2801600" y="8601918"/>
            <a:ext cx="877824" cy="6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2215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Erratic</a:t>
            </a:r>
          </a:p>
          <a:p>
            <a:pPr algn="ctr">
              <a:lnSpc>
                <a:spcPts val="2658"/>
              </a:lnSpc>
            </a:pPr>
            <a:r>
              <a:rPr lang="en-US" sz="2215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rainfall</a:t>
            </a:r>
          </a:p>
        </p:txBody>
      </p:sp>
      <p:sp>
        <p:nvSpPr>
          <p:cNvPr id="32" name="Freeform 32"/>
          <p:cNvSpPr/>
          <p:nvPr/>
        </p:nvSpPr>
        <p:spPr>
          <a:xfrm>
            <a:off x="14361330" y="7280704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5017598" y="7499343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4813280" y="8613785"/>
            <a:ext cx="2322576" cy="96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1"/>
              </a:lnSpc>
            </a:pPr>
            <a:r>
              <a:rPr lang="en-US" sz="2118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Wildlife damage (e.g., monkey impact on mango plantations)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822192" y="7433790"/>
            <a:ext cx="1408176" cy="59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sz="3486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₹1 Lakh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986016" y="7940196"/>
            <a:ext cx="1865376" cy="34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1940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Monsoon / Winter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242048" y="8365317"/>
            <a:ext cx="1207008" cy="665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</a:pPr>
            <a:r>
              <a:rPr lang="en-US" sz="2215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Free forest grazing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75520" y="7940196"/>
            <a:ext cx="914400" cy="34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1940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Summer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418320" y="8310528"/>
            <a:ext cx="1865376" cy="34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16"/>
              </a:lnSpc>
            </a:pPr>
            <a:r>
              <a:rPr lang="en-US" sz="1940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Fodder cost up to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28048" y="8657943"/>
            <a:ext cx="1499616" cy="59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1"/>
              </a:lnSpc>
            </a:pPr>
            <a:r>
              <a:rPr lang="en-US" sz="3486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₹1 Lakh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94944" y="6712761"/>
            <a:ext cx="2157984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Monsoon / Winter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822192" y="6712761"/>
            <a:ext cx="1005840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Summer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944" y="7093380"/>
            <a:ext cx="2231136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Free forest grazing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822192" y="7086375"/>
            <a:ext cx="1865376" cy="34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940">
                <a:solidFill>
                  <a:srgbClr val="1A2E4D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Fodder cost up to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112496" y="3251951"/>
            <a:ext cx="694944" cy="1147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81"/>
              </a:lnSpc>
            </a:pPr>
            <a:r>
              <a:rPr lang="en-US" sz="8581" b="1">
                <a:solidFill>
                  <a:srgbClr val="4264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X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869680" y="8317533"/>
            <a:ext cx="274320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3"/>
              </a:lnSpc>
            </a:pPr>
            <a:r>
              <a:rPr lang="en-US" sz="2274" b="1">
                <a:solidFill>
                  <a:srgbClr val="1A2E4D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76656" y="491098"/>
            <a:ext cx="10716768" cy="1136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7466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Water &amp; Energy Bottlenecks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705390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142670"/>
            <a:ext cx="5457962" cy="863627"/>
          </a:xfrm>
          <a:custGeom>
            <a:avLst/>
            <a:gdLst/>
            <a:ahLst/>
            <a:cxnLst/>
            <a:rect l="l" t="t" r="r" b="b"/>
            <a:pathLst>
              <a:path w="5457962" h="863627">
                <a:moveTo>
                  <a:pt x="0" y="0"/>
                </a:moveTo>
                <a:lnTo>
                  <a:pt x="5457962" y="0"/>
                </a:lnTo>
                <a:lnTo>
                  <a:pt x="545796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01952" y="2463498"/>
            <a:ext cx="2798064" cy="392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9"/>
              </a:lnSpc>
            </a:pPr>
            <a:r>
              <a:rPr lang="en-US" sz="252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WATER DEPENDENCY</a:t>
            </a:r>
          </a:p>
        </p:txBody>
      </p:sp>
      <p:sp>
        <p:nvSpPr>
          <p:cNvPr id="7" name="Freeform 7"/>
          <p:cNvSpPr/>
          <p:nvPr/>
        </p:nvSpPr>
        <p:spPr>
          <a:xfrm>
            <a:off x="6092354" y="2142670"/>
            <a:ext cx="5884536" cy="863627"/>
          </a:xfrm>
          <a:custGeom>
            <a:avLst/>
            <a:gdLst/>
            <a:ahLst/>
            <a:cxnLst/>
            <a:rect l="l" t="t" r="r" b="b"/>
            <a:pathLst>
              <a:path w="5884536" h="863627">
                <a:moveTo>
                  <a:pt x="0" y="0"/>
                </a:moveTo>
                <a:lnTo>
                  <a:pt x="5884536" y="0"/>
                </a:lnTo>
                <a:lnTo>
                  <a:pt x="5884536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010144" y="2478489"/>
            <a:ext cx="2048256" cy="37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3"/>
              </a:lnSpc>
            </a:pPr>
            <a:r>
              <a:rPr lang="en-US" sz="2494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POWER SUPPLY</a:t>
            </a:r>
          </a:p>
        </p:txBody>
      </p:sp>
      <p:sp>
        <p:nvSpPr>
          <p:cNvPr id="9" name="Freeform 9"/>
          <p:cNvSpPr/>
          <p:nvPr/>
        </p:nvSpPr>
        <p:spPr>
          <a:xfrm>
            <a:off x="11965952" y="2142670"/>
            <a:ext cx="5676718" cy="863627"/>
          </a:xfrm>
          <a:custGeom>
            <a:avLst/>
            <a:gdLst/>
            <a:ahLst/>
            <a:cxnLst/>
            <a:rect l="l" t="t" r="r" b="b"/>
            <a:pathLst>
              <a:path w="5676718" h="863627">
                <a:moveTo>
                  <a:pt x="0" y="0"/>
                </a:moveTo>
                <a:lnTo>
                  <a:pt x="5676718" y="0"/>
                </a:lnTo>
                <a:lnTo>
                  <a:pt x="5676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021056" y="2448390"/>
            <a:ext cx="3694176" cy="381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sz="2465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WHY SOLAR SCHEME FAILED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3421712"/>
            <a:ext cx="2625072" cy="6012593"/>
          </a:xfrm>
          <a:custGeom>
            <a:avLst/>
            <a:gdLst/>
            <a:ahLst/>
            <a:cxnLst/>
            <a:rect l="l" t="t" r="r" b="b"/>
            <a:pathLst>
              <a:path w="2625072" h="6012593">
                <a:moveTo>
                  <a:pt x="0" y="0"/>
                </a:moveTo>
                <a:lnTo>
                  <a:pt x="2625072" y="0"/>
                </a:lnTo>
                <a:lnTo>
                  <a:pt x="262507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730752" y="3899114"/>
            <a:ext cx="1975104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4"/>
              </a:lnSpc>
            </a:pPr>
            <a:r>
              <a:rPr lang="en-US" sz="7012" b="1">
                <a:solidFill>
                  <a:srgbClr val="5F8D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100%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30752" y="4964158"/>
            <a:ext cx="1920240" cy="884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groundwater dependency</a:t>
            </a:r>
          </a:p>
        </p:txBody>
      </p:sp>
      <p:sp>
        <p:nvSpPr>
          <p:cNvPr id="14" name="Freeform 14"/>
          <p:cNvSpPr/>
          <p:nvPr/>
        </p:nvSpPr>
        <p:spPr>
          <a:xfrm>
            <a:off x="3696976" y="6209369"/>
            <a:ext cx="2187560" cy="229572"/>
          </a:xfrm>
          <a:custGeom>
            <a:avLst/>
            <a:gdLst/>
            <a:ahLst/>
            <a:cxnLst/>
            <a:rect l="l" t="t" r="r" b="b"/>
            <a:pathLst>
              <a:path w="2187560" h="229572">
                <a:moveTo>
                  <a:pt x="0" y="0"/>
                </a:moveTo>
                <a:lnTo>
                  <a:pt x="2187560" y="0"/>
                </a:lnTo>
                <a:lnTo>
                  <a:pt x="218756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730752" y="6575653"/>
            <a:ext cx="1207008" cy="117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70"/>
              </a:lnSpc>
            </a:pPr>
            <a:r>
              <a:rPr lang="en-US" sz="7725" b="1">
                <a:solidFill>
                  <a:srgbClr val="5F8D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0%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30752" y="7729715"/>
            <a:ext cx="1993392" cy="1288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7"/>
              </a:lnSpc>
            </a:pPr>
            <a:r>
              <a:rPr lang="en-US" sz="2823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rainwater harvesting infrastructure</a:t>
            </a:r>
          </a:p>
        </p:txBody>
      </p:sp>
      <p:sp>
        <p:nvSpPr>
          <p:cNvPr id="17" name="Freeform 17"/>
          <p:cNvSpPr/>
          <p:nvPr/>
        </p:nvSpPr>
        <p:spPr>
          <a:xfrm>
            <a:off x="6529866" y="6209369"/>
            <a:ext cx="4801694" cy="229572"/>
          </a:xfrm>
          <a:custGeom>
            <a:avLst/>
            <a:gdLst/>
            <a:ahLst/>
            <a:cxnLst/>
            <a:rect l="l" t="t" r="r" b="b"/>
            <a:pathLst>
              <a:path w="4801694" h="229572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717536" y="3636011"/>
            <a:ext cx="2468880" cy="43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Village electricity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18704" y="4147921"/>
            <a:ext cx="1938528" cy="1179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70"/>
              </a:lnSpc>
            </a:pPr>
            <a:r>
              <a:rPr lang="en-US" sz="7725" b="1" i="1">
                <a:solidFill>
                  <a:srgbClr val="5F8D64"/>
                </a:solidFill>
                <a:latin typeface="Roboto Condensed Bold Italics"/>
                <a:ea typeface="Roboto Condensed Bold Italics"/>
                <a:cs typeface="Roboto Condensed Bold Italics"/>
                <a:sym typeface="Roboto Condensed Bold Italics"/>
              </a:rPr>
              <a:t>24/7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30768" y="5347712"/>
            <a:ext cx="950976" cy="43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7"/>
              </a:lnSpc>
            </a:pPr>
            <a:r>
              <a:rPr lang="en-US" sz="2823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supply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51776" y="6855842"/>
            <a:ext cx="3182112" cy="434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3"/>
              </a:lnSpc>
            </a:pPr>
            <a:r>
              <a:rPr lang="en-US" sz="2753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Agricultural electricity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6529866" y="7280704"/>
            <a:ext cx="3270402" cy="1082267"/>
          </a:xfrm>
          <a:custGeom>
            <a:avLst/>
            <a:gdLst/>
            <a:ahLst/>
            <a:cxnLst/>
            <a:rect l="l" t="t" r="r" b="b"/>
            <a:pathLst>
              <a:path w="3270402" h="1082267">
                <a:moveTo>
                  <a:pt x="0" y="0"/>
                </a:moveTo>
                <a:lnTo>
                  <a:pt x="3270402" y="0"/>
                </a:lnTo>
                <a:lnTo>
                  <a:pt x="327040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570574" y="7280704"/>
            <a:ext cx="1760986" cy="1082267"/>
          </a:xfrm>
          <a:custGeom>
            <a:avLst/>
            <a:gdLst/>
            <a:ahLst/>
            <a:cxnLst/>
            <a:rect l="l" t="t" r="r" b="b"/>
            <a:pathLst>
              <a:path w="1760986" h="1082267">
                <a:moveTo>
                  <a:pt x="0" y="0"/>
                </a:moveTo>
                <a:lnTo>
                  <a:pt x="1760986" y="0"/>
                </a:lnTo>
                <a:lnTo>
                  <a:pt x="176098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094976" y="7667108"/>
            <a:ext cx="786384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893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8 hrs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827264" y="8496179"/>
            <a:ext cx="2231136" cy="41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1"/>
              </a:lnSpc>
            </a:pPr>
            <a:r>
              <a:rPr lang="en-US" sz="2718" b="1">
                <a:solidFill>
                  <a:srgbClr val="1A3759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 day in shifts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059732" y="4493047"/>
            <a:ext cx="229694" cy="3017228"/>
          </a:xfrm>
          <a:custGeom>
            <a:avLst/>
            <a:gdLst/>
            <a:ahLst/>
            <a:cxnLst/>
            <a:rect l="l" t="t" r="r" b="b"/>
            <a:pathLst>
              <a:path w="229694" h="3017228">
                <a:moveTo>
                  <a:pt x="0" y="0"/>
                </a:moveTo>
                <a:lnTo>
                  <a:pt x="229694" y="0"/>
                </a:lnTo>
                <a:lnTo>
                  <a:pt x="229694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2403464" y="3214004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191488" y="3313417"/>
            <a:ext cx="1207008" cy="873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6"/>
              </a:lnSpc>
            </a:pPr>
            <a:r>
              <a:rPr lang="en-US" sz="5730" b="1">
                <a:solidFill>
                  <a:srgbClr val="5F8D6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25%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191488" y="4094394"/>
            <a:ext cx="2962656" cy="7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453">
                <a:solidFill>
                  <a:srgbClr val="1A37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unattainable</a:t>
            </a:r>
          </a:p>
          <a:p>
            <a:pPr algn="l">
              <a:lnSpc>
                <a:spcPts val="2943"/>
              </a:lnSpc>
            </a:pPr>
            <a:r>
              <a:rPr lang="en-US" sz="2453">
                <a:solidFill>
                  <a:srgbClr val="1A37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upfront cost for farmers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2403464" y="5138034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14191488" y="5567204"/>
            <a:ext cx="2011680" cy="119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8">
                <a:solidFill>
                  <a:srgbClr val="1A37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overly complex bureaucratic paperwork</a:t>
            </a:r>
          </a:p>
        </p:txBody>
      </p:sp>
      <p:sp>
        <p:nvSpPr>
          <p:cNvPr id="32" name="Freeform 32"/>
          <p:cNvSpPr/>
          <p:nvPr/>
        </p:nvSpPr>
        <p:spPr>
          <a:xfrm>
            <a:off x="12403464" y="7280704"/>
            <a:ext cx="1531292" cy="1508614"/>
          </a:xfrm>
          <a:custGeom>
            <a:avLst/>
            <a:gdLst/>
            <a:ahLst/>
            <a:cxnLst/>
            <a:rect l="l" t="t" r="r" b="b"/>
            <a:pathLst>
              <a:path w="1531292" h="1508614">
                <a:moveTo>
                  <a:pt x="0" y="0"/>
                </a:moveTo>
                <a:lnTo>
                  <a:pt x="1531292" y="0"/>
                </a:lnTo>
                <a:lnTo>
                  <a:pt x="153129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4191488" y="7463833"/>
            <a:ext cx="3182112" cy="1583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2638">
                <a:solidFill>
                  <a:srgbClr val="1A3759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insufficient solar voltage for heavy pumps running 8 continuous hours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801600" y="3425912"/>
            <a:ext cx="548640" cy="1069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14"/>
              </a:lnSpc>
            </a:pPr>
            <a:r>
              <a:rPr lang="en-US" sz="7012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3232" y="467541"/>
            <a:ext cx="8522208" cy="1789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26"/>
              </a:lnSpc>
            </a:pPr>
            <a:r>
              <a:rPr lang="en-US" sz="7037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Untapped Potential &amp; Strategic Opportunities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350377"/>
            <a:ext cx="1968804" cy="229572"/>
          </a:xfrm>
          <a:custGeom>
            <a:avLst/>
            <a:gdLst/>
            <a:ahLst/>
            <a:cxnLst/>
            <a:rect l="l" t="t" r="r" b="b"/>
            <a:pathLst>
              <a:path w="1968804" h="229572">
                <a:moveTo>
                  <a:pt x="0" y="0"/>
                </a:moveTo>
                <a:lnTo>
                  <a:pt x="1968804" y="0"/>
                </a:lnTo>
                <a:lnTo>
                  <a:pt x="196880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776725"/>
            <a:ext cx="2406316" cy="3017228"/>
          </a:xfrm>
          <a:custGeom>
            <a:avLst/>
            <a:gdLst/>
            <a:ahLst/>
            <a:cxnLst/>
            <a:rect l="l" t="t" r="r" b="b"/>
            <a:pathLst>
              <a:path w="2406316" h="3017228">
                <a:moveTo>
                  <a:pt x="0" y="0"/>
                </a:moveTo>
                <a:lnTo>
                  <a:pt x="2406316" y="0"/>
                </a:lnTo>
                <a:lnTo>
                  <a:pt x="240631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82842" y="3421712"/>
            <a:ext cx="1531292" cy="1727254"/>
          </a:xfrm>
          <a:custGeom>
            <a:avLst/>
            <a:gdLst/>
            <a:ahLst/>
            <a:cxnLst/>
            <a:rect l="l" t="t" r="r" b="b"/>
            <a:pathLst>
              <a:path w="1531292" h="1727254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821952" y="2776725"/>
            <a:ext cx="4364182" cy="3017228"/>
          </a:xfrm>
          <a:custGeom>
            <a:avLst/>
            <a:gdLst/>
            <a:ahLst/>
            <a:cxnLst/>
            <a:rect l="l" t="t" r="r" b="b"/>
            <a:pathLst>
              <a:path w="4364182" h="3017228">
                <a:moveTo>
                  <a:pt x="0" y="0"/>
                </a:moveTo>
                <a:lnTo>
                  <a:pt x="4364182" y="0"/>
                </a:lnTo>
                <a:lnTo>
                  <a:pt x="4364182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1840" y="3237575"/>
            <a:ext cx="2560320" cy="84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Strong Adoption Mindset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91840" y="4296465"/>
            <a:ext cx="3072384" cy="1120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2299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Villagers are receptive</a:t>
            </a:r>
          </a:p>
          <a:p>
            <a:pPr algn="l">
              <a:lnSpc>
                <a:spcPts val="2943"/>
              </a:lnSpc>
            </a:pPr>
            <a:r>
              <a:rPr lang="en-US" sz="2299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new crops and methods</a:t>
            </a:r>
          </a:p>
          <a:p>
            <a:pPr algn="l">
              <a:lnSpc>
                <a:spcPts val="2943"/>
              </a:lnSpc>
            </a:pPr>
            <a:r>
              <a:rPr lang="en-US" sz="2299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clear ROI is shown.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783021"/>
            <a:ext cx="3281340" cy="3869923"/>
          </a:xfrm>
          <a:custGeom>
            <a:avLst/>
            <a:gdLst/>
            <a:ahLst/>
            <a:cxnLst/>
            <a:rect l="l" t="t" r="r" b="b"/>
            <a:pathLst>
              <a:path w="3281340" h="3869923">
                <a:moveTo>
                  <a:pt x="0" y="0"/>
                </a:moveTo>
                <a:lnTo>
                  <a:pt x="3281340" y="0"/>
                </a:lnTo>
                <a:lnTo>
                  <a:pt x="3281340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5330" y="7062064"/>
            <a:ext cx="3062584" cy="1082267"/>
          </a:xfrm>
          <a:custGeom>
            <a:avLst/>
            <a:gdLst/>
            <a:ahLst/>
            <a:cxnLst/>
            <a:rect l="l" t="t" r="r" b="b"/>
            <a:pathLst>
              <a:path w="3062584" h="1082267">
                <a:moveTo>
                  <a:pt x="0" y="0"/>
                </a:moveTo>
                <a:lnTo>
                  <a:pt x="3062584" y="0"/>
                </a:lnTo>
                <a:lnTo>
                  <a:pt x="306258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696976" y="5783021"/>
            <a:ext cx="3489158" cy="3869923"/>
          </a:xfrm>
          <a:custGeom>
            <a:avLst/>
            <a:gdLst/>
            <a:ahLst/>
            <a:cxnLst/>
            <a:rect l="l" t="t" r="r" b="b"/>
            <a:pathLst>
              <a:path w="3489158" h="3869923">
                <a:moveTo>
                  <a:pt x="0" y="0"/>
                </a:moveTo>
                <a:lnTo>
                  <a:pt x="3489158" y="0"/>
                </a:lnTo>
                <a:lnTo>
                  <a:pt x="3489158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096512" y="6447119"/>
            <a:ext cx="2157984" cy="84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Abundant</a:t>
            </a:r>
          </a:p>
          <a:p>
            <a:pPr algn="l">
              <a:lnSpc>
                <a:spcPts val="3327"/>
              </a:lnSpc>
            </a:pPr>
            <a:r>
              <a:rPr lang="en-US" sz="2893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Bio-Resources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096512" y="7553845"/>
            <a:ext cx="2834640" cy="345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146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livestock population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096512" y="7959758"/>
            <a:ext cx="1828800" cy="75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4"/>
              </a:lnSpc>
            </a:pPr>
            <a:r>
              <a:rPr lang="en-US" sz="5047" b="1">
                <a:solidFill>
                  <a:srgbClr val="5A92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~1,000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96512" y="8633724"/>
            <a:ext cx="2779776" cy="366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2223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(cows, buffaloes, goats).</a:t>
            </a:r>
          </a:p>
        </p:txBody>
      </p:sp>
      <p:sp>
        <p:nvSpPr>
          <p:cNvPr id="17" name="Freeform 17"/>
          <p:cNvSpPr/>
          <p:nvPr/>
        </p:nvSpPr>
        <p:spPr>
          <a:xfrm>
            <a:off x="7175196" y="3214004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175196" y="7280704"/>
            <a:ext cx="885962" cy="1300906"/>
          </a:xfrm>
          <a:custGeom>
            <a:avLst/>
            <a:gdLst/>
            <a:ahLst/>
            <a:cxnLst/>
            <a:rect l="l" t="t" r="r" b="b"/>
            <a:pathLst>
              <a:path w="885962" h="1300906">
                <a:moveTo>
                  <a:pt x="0" y="0"/>
                </a:moveTo>
                <a:lnTo>
                  <a:pt x="885962" y="0"/>
                </a:lnTo>
                <a:lnTo>
                  <a:pt x="885962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0008086" y="32140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008086" y="7280704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7175196" y="3848060"/>
            <a:ext cx="3718852" cy="3869923"/>
          </a:xfrm>
          <a:custGeom>
            <a:avLst/>
            <a:gdLst/>
            <a:ahLst/>
            <a:cxnLst/>
            <a:rect l="l" t="t" r="r" b="b"/>
            <a:pathLst>
              <a:path w="3718852" h="3869923">
                <a:moveTo>
                  <a:pt x="0" y="0"/>
                </a:moveTo>
                <a:lnTo>
                  <a:pt x="3718852" y="0"/>
                </a:lnTo>
                <a:lnTo>
                  <a:pt x="371885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955280" y="4952369"/>
            <a:ext cx="2267712" cy="1709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6"/>
              </a:lnSpc>
            </a:pPr>
            <a:r>
              <a:rPr lang="en-US" sz="233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 foundation</a:t>
            </a:r>
          </a:p>
          <a:p>
            <a:pPr algn="ctr">
              <a:lnSpc>
                <a:spcPts val="2686"/>
              </a:lnSpc>
            </a:pPr>
            <a:r>
              <a:rPr lang="en-US" sz="233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of local strengths</a:t>
            </a:r>
          </a:p>
          <a:p>
            <a:pPr algn="ctr">
              <a:lnSpc>
                <a:spcPts val="2686"/>
              </a:lnSpc>
            </a:pPr>
            <a:r>
              <a:rPr lang="en-US" sz="233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ready to be</a:t>
            </a:r>
          </a:p>
          <a:p>
            <a:pPr algn="ctr">
              <a:lnSpc>
                <a:spcPts val="2686"/>
              </a:lnSpc>
            </a:pPr>
            <a:r>
              <a:rPr lang="en-US" sz="2336" b="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converted into</a:t>
            </a:r>
          </a:p>
          <a:p>
            <a:pPr algn="ctr">
              <a:lnSpc>
                <a:spcPts val="2686"/>
              </a:lnSpc>
            </a:pPr>
            <a:r>
              <a:rPr lang="en-US" sz="2336" b="1">
                <a:solidFill>
                  <a:srgbClr val="5A92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sustainable growth</a:t>
            </a:r>
          </a:p>
        </p:txBody>
      </p:sp>
      <p:sp>
        <p:nvSpPr>
          <p:cNvPr id="23" name="Freeform 23"/>
          <p:cNvSpPr/>
          <p:nvPr/>
        </p:nvSpPr>
        <p:spPr>
          <a:xfrm>
            <a:off x="10883110" y="2776725"/>
            <a:ext cx="4145426" cy="3017228"/>
          </a:xfrm>
          <a:custGeom>
            <a:avLst/>
            <a:gdLst/>
            <a:ahLst/>
            <a:cxnLst/>
            <a:rect l="l" t="t" r="r" b="b"/>
            <a:pathLst>
              <a:path w="4145426" h="3017228">
                <a:moveTo>
                  <a:pt x="0" y="0"/>
                </a:moveTo>
                <a:lnTo>
                  <a:pt x="4145426" y="0"/>
                </a:lnTo>
                <a:lnTo>
                  <a:pt x="414542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1521440" y="3234400"/>
            <a:ext cx="3072384" cy="433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Available Workforce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21440" y="3942054"/>
            <a:ext cx="3163824" cy="1396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2171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Local women are eager</a:t>
            </a:r>
          </a:p>
          <a:p>
            <a:pPr algn="l">
              <a:lnSpc>
                <a:spcPts val="2780"/>
              </a:lnSpc>
            </a:pPr>
            <a:r>
              <a:rPr lang="en-US" sz="2171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dedicate 4–5 hours</a:t>
            </a:r>
          </a:p>
          <a:p>
            <a:pPr algn="l">
              <a:lnSpc>
                <a:spcPts val="2780"/>
              </a:lnSpc>
            </a:pPr>
            <a:r>
              <a:rPr lang="en-US" sz="2171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daily to micro-industries</a:t>
            </a:r>
          </a:p>
          <a:p>
            <a:pPr algn="l">
              <a:lnSpc>
                <a:spcPts val="2780"/>
              </a:lnSpc>
            </a:pPr>
            <a:r>
              <a:rPr lang="en-US" sz="2171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like agarbatti manufacturing.</a:t>
            </a:r>
          </a:p>
        </p:txBody>
      </p:sp>
      <p:sp>
        <p:nvSpPr>
          <p:cNvPr id="26" name="Freeform 26"/>
          <p:cNvSpPr/>
          <p:nvPr/>
        </p:nvSpPr>
        <p:spPr>
          <a:xfrm>
            <a:off x="14798842" y="2776725"/>
            <a:ext cx="2843828" cy="3017228"/>
          </a:xfrm>
          <a:custGeom>
            <a:avLst/>
            <a:gdLst/>
            <a:ahLst/>
            <a:cxnLst/>
            <a:rect l="l" t="t" r="r" b="b"/>
            <a:pathLst>
              <a:path w="2843828" h="3017228">
                <a:moveTo>
                  <a:pt x="0" y="0"/>
                </a:moveTo>
                <a:lnTo>
                  <a:pt x="2843828" y="0"/>
                </a:lnTo>
                <a:lnTo>
                  <a:pt x="2843828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5236354" y="3214004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883110" y="5783021"/>
            <a:ext cx="3926670" cy="3869923"/>
          </a:xfrm>
          <a:custGeom>
            <a:avLst/>
            <a:gdLst/>
            <a:ahLst/>
            <a:cxnLst/>
            <a:rect l="l" t="t" r="r" b="b"/>
            <a:pathLst>
              <a:path w="3926670" h="3869923">
                <a:moveTo>
                  <a:pt x="0" y="0"/>
                </a:moveTo>
                <a:lnTo>
                  <a:pt x="3926670" y="0"/>
                </a:lnTo>
                <a:lnTo>
                  <a:pt x="3926670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1283696" y="6200231"/>
            <a:ext cx="2560320" cy="849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7"/>
              </a:lnSpc>
            </a:pPr>
            <a:r>
              <a:rPr lang="en-US" sz="2893" b="1">
                <a:solidFill>
                  <a:srgbClr val="132E5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Waste-to-Wealth Opportunity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83696" y="7296540"/>
            <a:ext cx="3200400" cy="345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4"/>
              </a:lnSpc>
            </a:pPr>
            <a:r>
              <a:rPr lang="en-US" sz="2120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Livestock generates minimum</a:t>
            </a:r>
          </a:p>
        </p:txBody>
      </p:sp>
      <p:sp>
        <p:nvSpPr>
          <p:cNvPr id="31" name="Freeform 31"/>
          <p:cNvSpPr/>
          <p:nvPr/>
        </p:nvSpPr>
        <p:spPr>
          <a:xfrm>
            <a:off x="14580086" y="5783021"/>
            <a:ext cx="3062584" cy="3869923"/>
          </a:xfrm>
          <a:custGeom>
            <a:avLst/>
            <a:gdLst/>
            <a:ahLst/>
            <a:cxnLst/>
            <a:rect l="l" t="t" r="r" b="b"/>
            <a:pathLst>
              <a:path w="3062584" h="3869923">
                <a:moveTo>
                  <a:pt x="0" y="0"/>
                </a:moveTo>
                <a:lnTo>
                  <a:pt x="3062584" y="0"/>
                </a:lnTo>
                <a:lnTo>
                  <a:pt x="3062584" y="3869924"/>
                </a:lnTo>
                <a:lnTo>
                  <a:pt x="0" y="386992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4798842" y="6209369"/>
            <a:ext cx="1968804" cy="1300906"/>
          </a:xfrm>
          <a:custGeom>
            <a:avLst/>
            <a:gdLst/>
            <a:ahLst/>
            <a:cxnLst/>
            <a:rect l="l" t="t" r="r" b="b"/>
            <a:pathLst>
              <a:path w="1968804" h="1300906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4798842" y="7707051"/>
            <a:ext cx="2625072" cy="1508614"/>
          </a:xfrm>
          <a:custGeom>
            <a:avLst/>
            <a:gdLst/>
            <a:ahLst/>
            <a:cxnLst/>
            <a:rect l="l" t="t" r="r" b="b"/>
            <a:pathLst>
              <a:path w="2625072" h="1508614">
                <a:moveTo>
                  <a:pt x="0" y="0"/>
                </a:moveTo>
                <a:lnTo>
                  <a:pt x="2625072" y="0"/>
                </a:lnTo>
                <a:lnTo>
                  <a:pt x="262507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11283696" y="7682185"/>
            <a:ext cx="822960" cy="620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4248" b="1">
                <a:solidFill>
                  <a:srgbClr val="5A9263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150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618720" y="7899827"/>
            <a:ext cx="1792224" cy="142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6"/>
              </a:lnSpc>
            </a:pPr>
            <a:r>
              <a:rPr lang="en-US" sz="1762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tractorloads of dung</a:t>
            </a:r>
          </a:p>
          <a:p>
            <a:pPr algn="l">
              <a:lnSpc>
                <a:spcPts val="2256"/>
              </a:lnSpc>
            </a:pPr>
            <a:r>
              <a:rPr lang="en-US" sz="1762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annually, enabling biogas</a:t>
            </a:r>
          </a:p>
          <a:p>
            <a:pPr algn="l">
              <a:lnSpc>
                <a:spcPts val="2256"/>
              </a:lnSpc>
            </a:pPr>
            <a:r>
              <a:rPr lang="en-US" sz="1762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 organic fertilizer</a:t>
            </a:r>
          </a:p>
          <a:p>
            <a:pPr algn="l">
              <a:lnSpc>
                <a:spcPts val="2256"/>
              </a:lnSpc>
            </a:pPr>
            <a:r>
              <a:rPr lang="en-US" sz="1762">
                <a:solidFill>
                  <a:srgbClr val="132E5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micro-industries.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558</Words>
  <Application>Microsoft Office PowerPoint</Application>
  <PresentationFormat>Custom</PresentationFormat>
  <Paragraphs>148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Century Gothic</vt:lpstr>
      <vt:lpstr>Roboto Condensed Bold</vt:lpstr>
      <vt:lpstr>Wingdings 3</vt:lpstr>
      <vt:lpstr>Roboto Condensed</vt:lpstr>
      <vt:lpstr>Roboto Condensed Bold Italics</vt:lpstr>
      <vt:lpstr>Calibri</vt:lpstr>
      <vt:lpstr>Cambria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Varad Vyas</cp:lastModifiedBy>
  <cp:revision>2</cp:revision>
  <dcterms:created xsi:type="dcterms:W3CDTF">2006-08-16T00:00:00Z</dcterms:created>
  <dcterms:modified xsi:type="dcterms:W3CDTF">2026-09-17T04:15:45Z</dcterms:modified>
  <dc:identifier>DAHVbKq8fRo</dc:identifier>
</cp:coreProperties>
</file>